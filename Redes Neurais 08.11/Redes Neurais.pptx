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8" r:id="rId4"/>
    <p:sldId id="269" r:id="rId5"/>
    <p:sldId id="270" r:id="rId6"/>
    <p:sldId id="285" r:id="rId7"/>
    <p:sldId id="272" r:id="rId8"/>
    <p:sldId id="271" r:id="rId9"/>
    <p:sldId id="278" r:id="rId10"/>
    <p:sldId id="282" r:id="rId11"/>
    <p:sldId id="279" r:id="rId12"/>
    <p:sldId id="280" r:id="rId13"/>
    <p:sldId id="281" r:id="rId14"/>
    <p:sldId id="273" r:id="rId15"/>
    <p:sldId id="274" r:id="rId16"/>
    <p:sldId id="283" r:id="rId17"/>
    <p:sldId id="284" r:id="rId18"/>
    <p:sldId id="275" r:id="rId19"/>
    <p:sldId id="258" r:id="rId20"/>
    <p:sldId id="259" r:id="rId21"/>
    <p:sldId id="277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6691" autoAdjust="0"/>
    <p:restoredTop sz="94660"/>
  </p:normalViewPr>
  <p:slideViewPr>
    <p:cSldViewPr snapToGrid="0">
      <p:cViewPr varScale="1">
        <p:scale>
          <a:sx n="72" d="100"/>
          <a:sy n="72" d="100"/>
        </p:scale>
        <p:origin x="18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11/8/2025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11/8/2025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05CBCA-8D81-4F46-A5F2-BAC3C456E7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9114" y="2610677"/>
            <a:ext cx="8574156" cy="1641473"/>
          </a:xfrm>
        </p:spPr>
        <p:txBody>
          <a:bodyPr/>
          <a:lstStyle/>
          <a:p>
            <a:r>
              <a:rPr lang="pt-BR" sz="4800" b="1" dirty="0">
                <a:solidFill>
                  <a:schemeClr val="tx1"/>
                </a:solidFill>
              </a:rPr>
              <a:t>Introdução às Redes Neurais com Python</a:t>
            </a:r>
            <a:endParaRPr lang="pt-BR" sz="4500" b="1" dirty="0">
              <a:solidFill>
                <a:schemeClr val="tx1"/>
              </a:solidFill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A071ED1-D747-49FF-8455-B1C296395FCE}"/>
              </a:ext>
            </a:extLst>
          </p:cNvPr>
          <p:cNvSpPr txBox="1"/>
          <p:nvPr/>
        </p:nvSpPr>
        <p:spPr>
          <a:xfrm>
            <a:off x="4386468" y="5777948"/>
            <a:ext cx="37593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>
                <a:latin typeface="+mj-lt"/>
                <a:ea typeface="+mj-ea"/>
                <a:cs typeface="+mj-cs"/>
              </a:rPr>
              <a:t>Prof. Breno Silveira</a:t>
            </a:r>
          </a:p>
        </p:txBody>
      </p:sp>
    </p:spTree>
    <p:extLst>
      <p:ext uri="{BB962C8B-B14F-4D97-AF65-F5344CB8AC3E}">
        <p14:creationId xmlns:p14="http://schemas.microsoft.com/office/powerpoint/2010/main" val="42096235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7BDB9B-A0B7-4EAD-A2FF-0DBD96FDC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02365"/>
          </a:xfrm>
        </p:spPr>
        <p:txBody>
          <a:bodyPr/>
          <a:lstStyle/>
          <a:p>
            <a:r>
              <a:rPr lang="pt-BR" b="1" dirty="0">
                <a:solidFill>
                  <a:schemeClr val="tx1"/>
                </a:solidFill>
              </a:rPr>
              <a:t>Objetivo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6875C9B-0BDD-4C72-A9C5-938B88AA49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2800" dirty="0"/>
              <a:t>Compreender o funcionamento de uma rede neural artificial e saber implementar modelos simples com </a:t>
            </a:r>
            <a:r>
              <a:rPr lang="pt-BR" sz="2800" dirty="0" err="1"/>
              <a:t>NumPy</a:t>
            </a:r>
            <a:r>
              <a:rPr lang="pt-BR" sz="2800" dirty="0"/>
              <a:t> e </a:t>
            </a:r>
            <a:r>
              <a:rPr lang="pt-BR" sz="2800" dirty="0" err="1"/>
              <a:t>TensorFlow</a:t>
            </a:r>
            <a:r>
              <a:rPr lang="pt-BR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2883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168062-2E59-467F-AC87-62989DB54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solidFill>
                  <a:schemeClr val="tx1"/>
                </a:solidFill>
              </a:rPr>
              <a:t>O que são Redes Neurais?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E78244C-EAE0-4CBF-9090-499AD778AA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569" y="1518557"/>
            <a:ext cx="9367814" cy="47298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800" b="1" dirty="0">
                <a:solidFill>
                  <a:schemeClr val="tx1"/>
                </a:solidFill>
              </a:rPr>
              <a:t>Conceito</a:t>
            </a:r>
            <a:br>
              <a:rPr lang="pt-BR" sz="2800" dirty="0"/>
            </a:br>
            <a:endParaRPr lang="pt-BR" sz="2800" dirty="0"/>
          </a:p>
          <a:p>
            <a:pPr marL="0" indent="0">
              <a:buNone/>
            </a:pPr>
            <a:r>
              <a:rPr lang="pt-BR" sz="2800" dirty="0"/>
              <a:t>Redes neurais artificiais são modelos matemáticos inspirados no cérebro humano, compostos por neurônios interconectados que aprendem padrões a partir de dados.</a:t>
            </a:r>
          </a:p>
          <a:p>
            <a:pPr marL="0" indent="0">
              <a:buNone/>
            </a:pPr>
            <a:endParaRPr lang="pt-BR" sz="2800" b="1" dirty="0"/>
          </a:p>
        </p:txBody>
      </p:sp>
    </p:spTree>
    <p:extLst>
      <p:ext uri="{BB962C8B-B14F-4D97-AF65-F5344CB8AC3E}">
        <p14:creationId xmlns:p14="http://schemas.microsoft.com/office/powerpoint/2010/main" val="3018650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3ED8620-4C19-44A2-B493-1917228014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097" y="662609"/>
            <a:ext cx="9090990" cy="53273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2400" b="1" dirty="0"/>
              <a:t>Principais ideias</a:t>
            </a:r>
          </a:p>
          <a:p>
            <a:pPr marL="0" indent="0">
              <a:buNone/>
            </a:pPr>
            <a:endParaRPr lang="pt-BR" sz="2400" dirty="0"/>
          </a:p>
          <a:p>
            <a:pPr marL="0" indent="0">
              <a:buNone/>
            </a:pPr>
            <a:r>
              <a:rPr lang="pt-BR" sz="2400" dirty="0"/>
              <a:t>	Simulam conexões entre neurônios biológicos.</a:t>
            </a:r>
          </a:p>
          <a:p>
            <a:pPr marL="0" indent="0">
              <a:buNone/>
            </a:pPr>
            <a:r>
              <a:rPr lang="pt-BR" sz="2400" dirty="0"/>
              <a:t>	Aprendem a partir de exemplos (dados de entrada e saída).</a:t>
            </a:r>
          </a:p>
          <a:p>
            <a:pPr marL="0" indent="0">
              <a:buNone/>
            </a:pPr>
            <a:r>
              <a:rPr lang="pt-BR" sz="2400" dirty="0"/>
              <a:t>	São a base do </a:t>
            </a:r>
            <a:r>
              <a:rPr lang="pt-BR" sz="2400" i="1" dirty="0" err="1"/>
              <a:t>Deep</a:t>
            </a:r>
            <a:r>
              <a:rPr lang="pt-BR" sz="2400" i="1" dirty="0"/>
              <a:t> Learning</a:t>
            </a:r>
            <a:r>
              <a:rPr lang="pt-BR" sz="2400" dirty="0"/>
              <a:t>.</a:t>
            </a:r>
          </a:p>
          <a:p>
            <a:pPr marL="0" indent="0">
              <a:buNone/>
            </a:pPr>
            <a:endParaRPr lang="pt-BR" sz="2400" b="1" dirty="0"/>
          </a:p>
          <a:p>
            <a:pPr marL="0" indent="0">
              <a:buNone/>
            </a:pPr>
            <a:r>
              <a:rPr lang="pt-BR" sz="2400" b="1" dirty="0"/>
              <a:t>Aplicações</a:t>
            </a:r>
          </a:p>
          <a:p>
            <a:pPr marL="0" indent="0">
              <a:buNone/>
            </a:pPr>
            <a:br>
              <a:rPr lang="pt-BR" sz="2400" dirty="0"/>
            </a:br>
            <a:r>
              <a:rPr lang="pt-BR" sz="2400" dirty="0"/>
              <a:t>	Reconhecimento de voz, imagens, recomendações, jogos, diagnósticos, etc.</a:t>
            </a:r>
          </a:p>
        </p:txBody>
      </p:sp>
    </p:spTree>
    <p:extLst>
      <p:ext uri="{BB962C8B-B14F-4D97-AF65-F5344CB8AC3E}">
        <p14:creationId xmlns:p14="http://schemas.microsoft.com/office/powerpoint/2010/main" val="1652235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7F8580-71A5-490E-ACF9-504EC30AC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solidFill>
                  <a:schemeClr val="tx1"/>
                </a:solidFill>
              </a:rPr>
              <a:t>Linha do Tempo</a:t>
            </a:r>
          </a:p>
        </p:txBody>
      </p:sp>
      <p:graphicFrame>
        <p:nvGraphicFramePr>
          <p:cNvPr id="18" name="Tabela 17">
            <a:extLst>
              <a:ext uri="{FF2B5EF4-FFF2-40B4-BE49-F238E27FC236}">
                <a16:creationId xmlns:a16="http://schemas.microsoft.com/office/drawing/2014/main" id="{4179B431-87C0-4974-A070-24EF584615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1427689"/>
              </p:ext>
            </p:extLst>
          </p:nvPr>
        </p:nvGraphicFramePr>
        <p:xfrm>
          <a:off x="677333" y="2084988"/>
          <a:ext cx="8864232" cy="2895600"/>
        </p:xfrm>
        <a:graphic>
          <a:graphicData uri="http://schemas.openxmlformats.org/drawingml/2006/table">
            <a:tbl>
              <a:tblPr/>
              <a:tblGrid>
                <a:gridCol w="4432116">
                  <a:extLst>
                    <a:ext uri="{9D8B030D-6E8A-4147-A177-3AD203B41FA5}">
                      <a16:colId xmlns:a16="http://schemas.microsoft.com/office/drawing/2014/main" val="2413031048"/>
                    </a:ext>
                  </a:extLst>
                </a:gridCol>
                <a:gridCol w="4432116">
                  <a:extLst>
                    <a:ext uri="{9D8B030D-6E8A-4147-A177-3AD203B41FA5}">
                      <a16:colId xmlns:a16="http://schemas.microsoft.com/office/drawing/2014/main" val="813822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BR" sz="2200" dirty="0"/>
                        <a:t>Ano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200" dirty="0"/>
                        <a:t>Marco Histórico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197614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sz="2200" dirty="0"/>
                        <a:t>1943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2200"/>
                        <a:t>McCulloch &amp; Pitts – primeiro modelo de neurônio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708649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sz="2200" dirty="0"/>
                        <a:t>1958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2200" dirty="0" err="1"/>
                        <a:t>Rosenblatt</a:t>
                      </a:r>
                      <a:r>
                        <a:rPr lang="pt-BR" sz="2200" dirty="0"/>
                        <a:t> – </a:t>
                      </a:r>
                      <a:r>
                        <a:rPr lang="pt-BR" sz="2200" dirty="0" err="1"/>
                        <a:t>Perceptron</a:t>
                      </a:r>
                      <a:endParaRPr lang="pt-BR" sz="2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77996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sz="2200"/>
                        <a:t>1986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2200" dirty="0" err="1"/>
                        <a:t>Backpropagation</a:t>
                      </a:r>
                      <a:r>
                        <a:rPr lang="pt-BR" sz="2200" dirty="0"/>
                        <a:t> popularizado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21147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sz="2200" dirty="0"/>
                        <a:t>2000s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2200" dirty="0" err="1"/>
                        <a:t>Deep</a:t>
                      </a:r>
                      <a:r>
                        <a:rPr lang="pt-BR" sz="2200" dirty="0"/>
                        <a:t> Learning e </a:t>
                      </a:r>
                      <a:r>
                        <a:rPr lang="pt-BR" sz="2200" dirty="0" err="1"/>
                        <a:t>GPUs</a:t>
                      </a:r>
                      <a:endParaRPr lang="pt-BR" sz="2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540127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sz="2200" dirty="0"/>
                        <a:t>2020+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2200" dirty="0"/>
                        <a:t>IA Generativa e </a:t>
                      </a:r>
                      <a:r>
                        <a:rPr lang="pt-BR" sz="2200" dirty="0" err="1"/>
                        <a:t>LLMs</a:t>
                      </a:r>
                      <a:endParaRPr lang="pt-BR" sz="2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48386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1650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1CD062-E691-4428-B8BE-0FD628D3F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err="1">
                <a:solidFill>
                  <a:schemeClr val="tx1"/>
                </a:solidFill>
              </a:rPr>
              <a:t>Perceptron</a:t>
            </a:r>
            <a:endParaRPr lang="pt-BR" b="1" dirty="0">
              <a:solidFill>
                <a:schemeClr val="tx1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B82945C-2F37-4333-A1D3-0E64F8C955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77009"/>
            <a:ext cx="8596668" cy="446435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2200" dirty="0"/>
              <a:t>	O </a:t>
            </a:r>
            <a:r>
              <a:rPr lang="pt-BR" sz="2200" b="1" dirty="0" err="1"/>
              <a:t>perceptron</a:t>
            </a:r>
            <a:r>
              <a:rPr lang="pt-BR" sz="2200" dirty="0"/>
              <a:t> é o </a:t>
            </a:r>
            <a:r>
              <a:rPr lang="pt-BR" sz="2200" b="1" dirty="0"/>
              <a:t>modelo mais simples de neurônio artificial</a:t>
            </a:r>
            <a:r>
              <a:rPr lang="pt-BR" sz="2200" dirty="0"/>
              <a:t>, criado por </a:t>
            </a:r>
            <a:r>
              <a:rPr lang="pt-BR" sz="2200" b="1" dirty="0"/>
              <a:t>Frank </a:t>
            </a:r>
            <a:r>
              <a:rPr lang="pt-BR" sz="2200" b="1" dirty="0" err="1"/>
              <a:t>Rosenblatt</a:t>
            </a:r>
            <a:r>
              <a:rPr lang="pt-BR" sz="2200" b="1" dirty="0"/>
              <a:t> (1958)</a:t>
            </a:r>
            <a:r>
              <a:rPr lang="pt-BR" sz="2200" dirty="0"/>
              <a:t>.</a:t>
            </a:r>
            <a:br>
              <a:rPr lang="pt-BR" sz="2200" dirty="0"/>
            </a:br>
            <a:r>
              <a:rPr lang="pt-BR" sz="2200" dirty="0"/>
              <a:t>	Ele realiza uma </a:t>
            </a:r>
            <a:r>
              <a:rPr lang="pt-BR" sz="2200" b="1" dirty="0"/>
              <a:t>combinação linear das entradas</a:t>
            </a:r>
            <a:r>
              <a:rPr lang="pt-BR" sz="2200" dirty="0"/>
              <a:t> e aplica uma </a:t>
            </a:r>
            <a:r>
              <a:rPr lang="pt-BR" sz="2200" b="1" dirty="0"/>
              <a:t>função de ativação</a:t>
            </a:r>
            <a:r>
              <a:rPr lang="pt-BR" sz="2200" dirty="0"/>
              <a:t> para gerar uma saída binária (0 ou 1).</a:t>
            </a:r>
          </a:p>
          <a:p>
            <a:pPr marL="0" indent="0">
              <a:buNone/>
            </a:pPr>
            <a:r>
              <a:rPr lang="pt-BR" sz="2200" b="1" dirty="0"/>
              <a:t>	</a:t>
            </a:r>
          </a:p>
          <a:p>
            <a:pPr marL="0" indent="0">
              <a:buNone/>
            </a:pPr>
            <a:r>
              <a:rPr lang="pt-BR" sz="2200" b="1" dirty="0"/>
              <a:t>	A fórmula é composta por:</a:t>
            </a:r>
          </a:p>
          <a:p>
            <a:pPr marL="0" indent="0">
              <a:buNone/>
            </a:pPr>
            <a:r>
              <a:rPr lang="pt-BR" sz="2200" b="1" dirty="0"/>
              <a:t>	</a:t>
            </a:r>
            <a:endParaRPr lang="pt-BR" sz="2200" dirty="0"/>
          </a:p>
          <a:p>
            <a:pPr marL="0" indent="0">
              <a:buNone/>
            </a:pPr>
            <a:r>
              <a:rPr lang="pt-BR" sz="2200" b="1" dirty="0"/>
              <a:t>	1. Função:</a:t>
            </a:r>
            <a:r>
              <a:rPr lang="pt-BR" sz="2200" dirty="0"/>
              <a:t> classificar padrões lineares (</a:t>
            </a:r>
            <a:r>
              <a:rPr lang="pt-BR" sz="2200" dirty="0" err="1"/>
              <a:t>ex</a:t>
            </a:r>
            <a:r>
              <a:rPr lang="pt-BR" sz="2200" dirty="0"/>
              <a:t>: sim/não).</a:t>
            </a:r>
            <a:br>
              <a:rPr lang="pt-BR" sz="2200" dirty="0"/>
            </a:br>
            <a:r>
              <a:rPr lang="pt-BR" sz="2200" dirty="0"/>
              <a:t>	2. </a:t>
            </a:r>
            <a:r>
              <a:rPr lang="pt-BR" sz="2200" b="1" dirty="0"/>
              <a:t>Limitação:</a:t>
            </a:r>
            <a:r>
              <a:rPr lang="pt-BR" sz="2200" dirty="0"/>
              <a:t> só resolve </a:t>
            </a:r>
            <a:r>
              <a:rPr lang="pt-BR" sz="2200" b="1" dirty="0"/>
              <a:t>problemas linearmente separáveis</a:t>
            </a:r>
            <a:r>
              <a:rPr lang="pt-BR" sz="2200" dirty="0"/>
              <a:t>.</a:t>
            </a:r>
            <a:br>
              <a:rPr lang="pt-BR" sz="2200" dirty="0"/>
            </a:br>
            <a:r>
              <a:rPr lang="pt-BR" sz="2200" dirty="0"/>
              <a:t>	3. </a:t>
            </a:r>
            <a:r>
              <a:rPr lang="pt-BR" sz="2200" b="1" dirty="0"/>
              <a:t>Importância:</a:t>
            </a:r>
            <a:r>
              <a:rPr lang="pt-BR" sz="2200" dirty="0"/>
              <a:t> base conceitual das </a:t>
            </a:r>
            <a:r>
              <a:rPr lang="pt-BR" sz="2200" b="1" dirty="0"/>
              <a:t>redes neurais modernas</a:t>
            </a:r>
            <a:r>
              <a:rPr lang="pt-BR" sz="2200" dirty="0"/>
              <a:t>.</a:t>
            </a:r>
          </a:p>
          <a:p>
            <a:endParaRPr lang="pt-BR" sz="2200" dirty="0"/>
          </a:p>
        </p:txBody>
      </p:sp>
    </p:spTree>
    <p:extLst>
      <p:ext uri="{BB962C8B-B14F-4D97-AF65-F5344CB8AC3E}">
        <p14:creationId xmlns:p14="http://schemas.microsoft.com/office/powerpoint/2010/main" val="16159009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49AA355-E5B6-458E-8CC0-F19E136A7B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0343" y="918770"/>
            <a:ext cx="9063014" cy="38807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2800" b="1" dirty="0"/>
              <a:t>Cálculo básico de um neurônio</a:t>
            </a:r>
          </a:p>
          <a:p>
            <a:endParaRPr lang="pt-BR" sz="2800" b="1" dirty="0"/>
          </a:p>
          <a:p>
            <a:endParaRPr lang="pt-BR" sz="2800" b="1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CF66DEA-6217-458F-8CC4-A582D48F12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1786" y="1990528"/>
            <a:ext cx="4151365" cy="1737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599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1D08C2-001F-4BAD-9DB6-D87F8645B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solidFill>
                  <a:schemeClr val="tx1"/>
                </a:solidFill>
              </a:rPr>
              <a:t>Estrutura de uma Rede Neural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ED6F882-65AF-4E0E-BF2A-92DB764047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sz="2300" b="1" dirty="0"/>
              <a:t>Componentes</a:t>
            </a:r>
            <a:endParaRPr lang="pt-BR" sz="2300" dirty="0"/>
          </a:p>
          <a:p>
            <a:pPr marL="0" indent="0">
              <a:buNone/>
            </a:pPr>
            <a:r>
              <a:rPr lang="pt-BR" sz="2300" b="1" dirty="0"/>
              <a:t>	</a:t>
            </a:r>
          </a:p>
          <a:p>
            <a:pPr marL="0" indent="0">
              <a:buNone/>
            </a:pPr>
            <a:r>
              <a:rPr lang="pt-BR" sz="2300" b="1" dirty="0"/>
              <a:t>	Camada de entrada:</a:t>
            </a:r>
            <a:r>
              <a:rPr lang="pt-BR" sz="2300" dirty="0"/>
              <a:t> recebe os dados.</a:t>
            </a:r>
          </a:p>
          <a:p>
            <a:pPr marL="0" indent="0">
              <a:buNone/>
            </a:pPr>
            <a:r>
              <a:rPr lang="pt-BR" sz="2300" b="1" dirty="0"/>
              <a:t>	Camada oculta:</a:t>
            </a:r>
            <a:r>
              <a:rPr lang="pt-BR" sz="2300" dirty="0"/>
              <a:t> extrai padrões.</a:t>
            </a:r>
          </a:p>
          <a:p>
            <a:pPr marL="0" indent="0">
              <a:buNone/>
            </a:pPr>
            <a:r>
              <a:rPr lang="pt-BR" sz="2300" b="1" dirty="0"/>
              <a:t>	Camada de saída:</a:t>
            </a:r>
            <a:r>
              <a:rPr lang="pt-BR" sz="2300" dirty="0"/>
              <a:t> gera o resultado final.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65867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011A2BF1-E7F8-4426-AA54-52D54CEAE1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65059" y="1704975"/>
            <a:ext cx="6448425" cy="3448050"/>
          </a:xfrm>
        </p:spPr>
      </p:pic>
    </p:spTree>
    <p:extLst>
      <p:ext uri="{BB962C8B-B14F-4D97-AF65-F5344CB8AC3E}">
        <p14:creationId xmlns:p14="http://schemas.microsoft.com/office/powerpoint/2010/main" val="16549828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3B031BEB-0C45-4144-83B7-033960AF30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4251" y="863635"/>
            <a:ext cx="8897448" cy="4702278"/>
          </a:xfrm>
        </p:spPr>
      </p:pic>
    </p:spTree>
    <p:extLst>
      <p:ext uri="{BB962C8B-B14F-4D97-AF65-F5344CB8AC3E}">
        <p14:creationId xmlns:p14="http://schemas.microsoft.com/office/powerpoint/2010/main" val="4256100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68FEBC59-73D8-42C9-83CD-02AD09CCB6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27224" y="1166675"/>
            <a:ext cx="5897589" cy="3881437"/>
          </a:xfrm>
        </p:spPr>
      </p:pic>
    </p:spTree>
    <p:extLst>
      <p:ext uri="{BB962C8B-B14F-4D97-AF65-F5344CB8AC3E}">
        <p14:creationId xmlns:p14="http://schemas.microsoft.com/office/powerpoint/2010/main" val="218661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EB5AC6E3-CC58-4792-8909-18A2DA1DD2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4106" y="914400"/>
            <a:ext cx="8136834" cy="4068417"/>
          </a:xfrm>
        </p:spPr>
      </p:pic>
    </p:spTree>
    <p:extLst>
      <p:ext uri="{BB962C8B-B14F-4D97-AF65-F5344CB8AC3E}">
        <p14:creationId xmlns:p14="http://schemas.microsoft.com/office/powerpoint/2010/main" val="17103573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B8C46194-BC1E-40C4-9B91-1E58FCB683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33801" y="388726"/>
            <a:ext cx="5790997" cy="6080548"/>
          </a:xfrm>
        </p:spPr>
      </p:pic>
    </p:spTree>
    <p:extLst>
      <p:ext uri="{BB962C8B-B14F-4D97-AF65-F5344CB8AC3E}">
        <p14:creationId xmlns:p14="http://schemas.microsoft.com/office/powerpoint/2010/main" val="6945798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68982BC-3C4D-40CE-8981-E2B1939EF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669471"/>
            <a:ext cx="8596668" cy="5371891"/>
          </a:xfrm>
        </p:spPr>
        <p:txBody>
          <a:bodyPr/>
          <a:lstStyle/>
          <a:p>
            <a:pPr marL="0" indent="0">
              <a:buNone/>
            </a:pPr>
            <a:r>
              <a:rPr lang="pt-BR" sz="2400" b="1" dirty="0"/>
              <a:t>Funções de ativação comuns:</a:t>
            </a:r>
            <a:endParaRPr lang="pt-BR" sz="2400" dirty="0"/>
          </a:p>
          <a:p>
            <a:pPr marL="0" indent="0">
              <a:buNone/>
            </a:pPr>
            <a:endParaRPr lang="pt-BR" sz="2400" dirty="0"/>
          </a:p>
          <a:p>
            <a:pPr marL="0" indent="0">
              <a:buNone/>
            </a:pPr>
            <a:r>
              <a:rPr lang="pt-BR" sz="2400" dirty="0"/>
              <a:t>	1. </a:t>
            </a:r>
            <a:r>
              <a:rPr lang="pt-BR" sz="2400" dirty="0" err="1"/>
              <a:t>Sigmoid</a:t>
            </a:r>
            <a:r>
              <a:rPr lang="pt-BR" sz="2400" dirty="0"/>
              <a:t> → suaviza a saída entre 0 e 1</a:t>
            </a:r>
          </a:p>
          <a:p>
            <a:pPr marL="0" indent="0">
              <a:buNone/>
            </a:pPr>
            <a:r>
              <a:rPr lang="pt-BR" sz="2400" dirty="0"/>
              <a:t>	2. </a:t>
            </a:r>
            <a:r>
              <a:rPr lang="pt-BR" sz="2400" dirty="0" err="1"/>
              <a:t>ReLU</a:t>
            </a:r>
            <a:r>
              <a:rPr lang="pt-BR" sz="2400" dirty="0"/>
              <a:t> → elimina valores negativos</a:t>
            </a:r>
          </a:p>
          <a:p>
            <a:pPr marL="0" indent="0">
              <a:buNone/>
            </a:pPr>
            <a:r>
              <a:rPr lang="pt-BR" sz="2400" dirty="0"/>
              <a:t>	3. </a:t>
            </a:r>
            <a:r>
              <a:rPr lang="pt-BR" sz="2400" dirty="0" err="1"/>
              <a:t>Softmax</a:t>
            </a:r>
            <a:r>
              <a:rPr lang="pt-BR" sz="2400" dirty="0"/>
              <a:t> → usada em classificação </a:t>
            </a:r>
            <a:r>
              <a:rPr lang="pt-BR" sz="2400" dirty="0" err="1"/>
              <a:t>multiclasse</a:t>
            </a:r>
            <a:endParaRPr lang="pt-BR" sz="2400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557107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B8196C-7ADF-4112-9F7F-4F612CB30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solidFill>
                  <a:schemeClr val="tx1"/>
                </a:solidFill>
              </a:rPr>
              <a:t>Processo de Aprendizado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907A4E1-3855-44C4-9669-4F815ED8A41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59282" y="1392921"/>
            <a:ext cx="8596668" cy="58118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/>
              <a:tabLst/>
            </a:pPr>
            <a:r>
              <a:rPr kumimoji="0" lang="pt-BR" altLang="pt-BR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Forward</a:t>
            </a:r>
            <a:r>
              <a:rPr kumimoji="0" lang="pt-BR" altLang="pt-BR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propagation</a:t>
            </a:r>
            <a:r>
              <a:rPr kumimoji="0" lang="pt-BR" altLang="pt-BR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entrada passa pela rede, gerando uma saída. </a:t>
            </a:r>
            <a:r>
              <a:rPr lang="pt-BR" sz="2200" b="1" dirty="0" err="1"/>
              <a:t>Forward</a:t>
            </a:r>
            <a:r>
              <a:rPr lang="pt-BR" sz="2200" b="1" dirty="0"/>
              <a:t> </a:t>
            </a:r>
            <a:r>
              <a:rPr lang="pt-BR" sz="2200" b="1" dirty="0" err="1"/>
              <a:t>propagation</a:t>
            </a:r>
            <a:r>
              <a:rPr lang="pt-BR" sz="2200" dirty="0"/>
              <a:t> (ou </a:t>
            </a:r>
            <a:r>
              <a:rPr lang="pt-BR" sz="2200" b="1" dirty="0"/>
              <a:t>propagação direta</a:t>
            </a:r>
            <a:r>
              <a:rPr lang="pt-BR" sz="2200" dirty="0"/>
              <a:t>) é o processo em que os </a:t>
            </a:r>
            <a:r>
              <a:rPr lang="pt-BR" sz="2200" b="1" dirty="0"/>
              <a:t>dados entram na rede neural</a:t>
            </a:r>
            <a:r>
              <a:rPr lang="pt-BR" sz="2200" dirty="0"/>
              <a:t> e passam </a:t>
            </a:r>
            <a:r>
              <a:rPr lang="pt-BR" sz="2200" b="1" dirty="0"/>
              <a:t>da camada de entrada até a camada de saída</a:t>
            </a:r>
            <a:r>
              <a:rPr lang="pt-BR" sz="2200" dirty="0"/>
              <a:t>, neurônio por neurônio.</a:t>
            </a:r>
          </a:p>
          <a:p>
            <a:pPr marL="0" indent="0">
              <a:buNone/>
            </a:pPr>
            <a:r>
              <a:rPr lang="pt-BR" sz="2200" dirty="0"/>
              <a:t>	Em cada neurônio:</a:t>
            </a:r>
          </a:p>
          <a:p>
            <a:pPr marL="0" indent="0">
              <a:buNone/>
            </a:pPr>
            <a:r>
              <a:rPr lang="pt-BR" sz="2200" dirty="0"/>
              <a:t>	1. As entradas são </a:t>
            </a:r>
            <a:r>
              <a:rPr lang="pt-BR" sz="2200" b="1" dirty="0"/>
              <a:t>multiplicadas pelos pesos</a:t>
            </a:r>
            <a:r>
              <a:rPr lang="pt-BR" sz="2200" dirty="0"/>
              <a:t> e somadas com o </a:t>
            </a:r>
            <a:r>
              <a:rPr lang="pt-BR" sz="2200" b="1" dirty="0"/>
              <a:t>bias</a:t>
            </a:r>
            <a:r>
              <a:rPr lang="pt-BR" sz="2200" dirty="0"/>
              <a:t>.</a:t>
            </a:r>
          </a:p>
          <a:p>
            <a:pPr marL="0" indent="0">
              <a:buNone/>
            </a:pPr>
            <a:r>
              <a:rPr lang="pt-BR" sz="2200" dirty="0"/>
              <a:t>	2. O resultado passa por uma </a:t>
            </a:r>
            <a:r>
              <a:rPr lang="pt-BR" sz="2200" b="1" dirty="0"/>
              <a:t>função de ativação</a:t>
            </a:r>
            <a:r>
              <a:rPr lang="pt-BR" sz="2200" dirty="0"/>
              <a:t>.</a:t>
            </a:r>
          </a:p>
          <a:p>
            <a:pPr marL="0" indent="0">
              <a:buNone/>
            </a:pPr>
            <a:r>
              <a:rPr lang="pt-BR" sz="2200" dirty="0"/>
              <a:t>	3. A saída é enviada para a </a:t>
            </a:r>
            <a:r>
              <a:rPr lang="pt-BR" sz="2200" b="1" dirty="0"/>
              <a:t>próxima camada</a:t>
            </a:r>
            <a:r>
              <a:rPr lang="pt-BR" sz="2200" dirty="0"/>
              <a:t>.</a:t>
            </a:r>
          </a:p>
          <a:p>
            <a:pPr marL="0" indent="0">
              <a:buNone/>
            </a:pPr>
            <a:r>
              <a:rPr lang="pt-BR" sz="2200" dirty="0"/>
              <a:t>	No fim, a rede gera uma </a:t>
            </a:r>
            <a:r>
              <a:rPr lang="pt-BR" sz="2200" b="1" dirty="0"/>
              <a:t>previsão</a:t>
            </a:r>
            <a:r>
              <a:rPr lang="pt-BR" sz="2200" dirty="0"/>
              <a:t>.</a:t>
            </a:r>
            <a:br>
              <a:rPr lang="pt-BR" sz="2200" dirty="0"/>
            </a:br>
            <a:r>
              <a:rPr lang="pt-BR" sz="2200" dirty="0"/>
              <a:t>	É a fase </a:t>
            </a:r>
            <a:r>
              <a:rPr lang="pt-BR" sz="2200" b="1" dirty="0"/>
              <a:t>de cálculo da saída</a:t>
            </a:r>
            <a:r>
              <a:rPr lang="pt-BR" sz="2200" dirty="0"/>
              <a:t>, antes de qualquer ajuste dos pesos (que ocorre no </a:t>
            </a:r>
            <a:r>
              <a:rPr lang="pt-BR" sz="2200" i="1" dirty="0" err="1"/>
              <a:t>backpropagation</a:t>
            </a:r>
            <a:r>
              <a:rPr lang="pt-BR" sz="2200" dirty="0"/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pt-BR" altLang="pt-BR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pt-BR" altLang="pt-BR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3510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E907A4E1-3855-44C4-9669-4F815ED8A41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57809" y="648608"/>
            <a:ext cx="9130748" cy="54630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Cálculo do erro:  </a:t>
            </a:r>
            <a:r>
              <a:rPr lang="pt-BR" sz="2300" dirty="0"/>
              <a:t>O </a:t>
            </a:r>
            <a:r>
              <a:rPr lang="pt-BR" sz="2300" b="1" dirty="0"/>
              <a:t>cálculo do erro</a:t>
            </a:r>
            <a:r>
              <a:rPr lang="pt-BR" sz="2300" dirty="0"/>
              <a:t> mede o quanto a </a:t>
            </a:r>
            <a:r>
              <a:rPr lang="pt-BR" sz="2300" b="1" dirty="0"/>
              <a:t>saída prevista</a:t>
            </a:r>
            <a:r>
              <a:rPr lang="pt-BR" sz="2300" dirty="0"/>
              <a:t> pela rede neural está </a:t>
            </a:r>
            <a:r>
              <a:rPr lang="pt-BR" sz="2300" b="1" dirty="0"/>
              <a:t>distante da saída real (esperada)</a:t>
            </a:r>
            <a:r>
              <a:rPr lang="pt-BR" sz="2300" dirty="0"/>
              <a:t>.</a:t>
            </a:r>
          </a:p>
          <a:p>
            <a:pPr marL="0" indent="0">
              <a:buNone/>
            </a:pPr>
            <a:r>
              <a:rPr lang="pt-BR" sz="2300" dirty="0"/>
              <a:t>	De forma simples:</a:t>
            </a:r>
          </a:p>
          <a:p>
            <a:pPr marL="0" indent="0" algn="ctr">
              <a:buNone/>
            </a:pPr>
            <a:r>
              <a:rPr lang="pt-BR" sz="2300" dirty="0"/>
              <a:t>Erro = Saída esperada − Saída obtida</a:t>
            </a:r>
          </a:p>
          <a:p>
            <a:pPr marL="0" indent="0">
              <a:buNone/>
            </a:pPr>
            <a:r>
              <a:rPr lang="pt-BR" sz="2300" dirty="0"/>
              <a:t>	Para redes neurais, esse erro é normalmente expresso por uma </a:t>
            </a:r>
            <a:r>
              <a:rPr lang="pt-BR" sz="2300" b="1" dirty="0"/>
              <a:t>função de perda (</a:t>
            </a:r>
            <a:r>
              <a:rPr lang="pt-BR" sz="2300" b="1" dirty="0" err="1"/>
              <a:t>loss</a:t>
            </a:r>
            <a:r>
              <a:rPr lang="pt-BR" sz="2300" b="1" dirty="0"/>
              <a:t> </a:t>
            </a:r>
            <a:r>
              <a:rPr lang="pt-BR" sz="2300" b="1" dirty="0" err="1"/>
              <a:t>function</a:t>
            </a:r>
            <a:r>
              <a:rPr lang="pt-BR" sz="2300" b="1" dirty="0"/>
              <a:t>)</a:t>
            </a:r>
            <a:r>
              <a:rPr lang="pt-BR" sz="2300" dirty="0"/>
              <a:t>, que quantifica o desempenho do modelo.</a:t>
            </a:r>
            <a:br>
              <a:rPr lang="pt-BR" sz="2300" dirty="0"/>
            </a:br>
            <a:r>
              <a:rPr lang="pt-BR" sz="2300" dirty="0"/>
              <a:t>	Exemplos:</a:t>
            </a:r>
          </a:p>
          <a:p>
            <a:pPr marL="0" indent="0">
              <a:buNone/>
            </a:pPr>
            <a:r>
              <a:rPr lang="pt-BR" sz="2300" b="1" dirty="0"/>
              <a:t>	1. Erro quadrático médio (MSE): </a:t>
            </a:r>
            <a:r>
              <a:rPr lang="pt-BR" sz="2300" dirty="0"/>
              <a:t>usado em regressão.</a:t>
            </a:r>
          </a:p>
          <a:p>
            <a:pPr marL="0" indent="0">
              <a:buNone/>
            </a:pPr>
            <a:r>
              <a:rPr lang="pt-BR" sz="2300" b="1" dirty="0"/>
              <a:t>	2. Entropia cruzada (Cross-</a:t>
            </a:r>
            <a:r>
              <a:rPr lang="pt-BR" sz="2300" b="1" dirty="0" err="1"/>
              <a:t>Entropy</a:t>
            </a:r>
            <a:r>
              <a:rPr lang="pt-BR" sz="2300" b="1" dirty="0"/>
              <a:t>): </a:t>
            </a:r>
            <a:r>
              <a:rPr lang="pt-BR" sz="2300" dirty="0"/>
              <a:t>usada em classificação, mede a diferença entre distribuições de probabilidade.</a:t>
            </a:r>
          </a:p>
          <a:p>
            <a:pPr marL="0" indent="0">
              <a:buNone/>
            </a:pPr>
            <a:r>
              <a:rPr lang="pt-BR" sz="2300" dirty="0"/>
              <a:t>	O erro calculado é o que será </a:t>
            </a:r>
            <a:r>
              <a:rPr lang="pt-BR" sz="2300" b="1" dirty="0"/>
              <a:t>propagado para trás</a:t>
            </a:r>
            <a:r>
              <a:rPr lang="pt-BR" sz="2300" dirty="0"/>
              <a:t> no processo de </a:t>
            </a:r>
            <a:r>
              <a:rPr lang="pt-BR" sz="2300" i="1" dirty="0" err="1"/>
              <a:t>backpropagation</a:t>
            </a:r>
            <a:r>
              <a:rPr lang="pt-BR" sz="2300" dirty="0"/>
              <a:t>, ajustando os pesos da rede.</a:t>
            </a:r>
          </a:p>
        </p:txBody>
      </p:sp>
    </p:spTree>
    <p:extLst>
      <p:ext uri="{BB962C8B-B14F-4D97-AF65-F5344CB8AC3E}">
        <p14:creationId xmlns:p14="http://schemas.microsoft.com/office/powerpoint/2010/main" val="28323640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E907A4E1-3855-44C4-9669-4F815ED8A41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57809" y="202332"/>
            <a:ext cx="9130748" cy="63555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</a:t>
            </a:r>
            <a:r>
              <a:rPr kumimoji="0" lang="pt-BR" altLang="pt-BR" sz="21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Backpropagation</a:t>
            </a:r>
            <a:r>
              <a:rPr kumimoji="0" lang="pt-BR" altLang="pt-BR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pt-BR" altLang="pt-BR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Ajusta os pesos com base no erro (gradiente descendente). </a:t>
            </a:r>
            <a:r>
              <a:rPr lang="pt-BR" sz="2100" b="1" dirty="0" err="1"/>
              <a:t>Backpropagation</a:t>
            </a:r>
            <a:r>
              <a:rPr lang="pt-BR" sz="2100" dirty="0"/>
              <a:t> (ou </a:t>
            </a:r>
            <a:r>
              <a:rPr lang="pt-BR" sz="2100" b="1" dirty="0"/>
              <a:t>propagação para trás</a:t>
            </a:r>
            <a:r>
              <a:rPr lang="pt-BR" sz="2100" dirty="0"/>
              <a:t>) é o processo de </a:t>
            </a:r>
            <a:r>
              <a:rPr lang="pt-BR" sz="2100" b="1" dirty="0"/>
              <a:t>ajuste dos pesos</a:t>
            </a:r>
            <a:r>
              <a:rPr lang="pt-BR" sz="2100" dirty="0"/>
              <a:t> de uma rede neural com base no </a:t>
            </a:r>
            <a:r>
              <a:rPr lang="pt-BR" sz="2100" b="1" dirty="0"/>
              <a:t>erro calculado</a:t>
            </a:r>
            <a:r>
              <a:rPr lang="pt-BR" sz="2100" dirty="0"/>
              <a:t>.</a:t>
            </a:r>
          </a:p>
          <a:p>
            <a:pPr marL="0" indent="0">
              <a:buNone/>
            </a:pPr>
            <a:r>
              <a:rPr lang="pt-BR" sz="2100" dirty="0"/>
              <a:t>	Funciona assim, resumidamente:</a:t>
            </a:r>
          </a:p>
          <a:p>
            <a:pPr marL="0" indent="0">
              <a:buNone/>
            </a:pPr>
            <a:r>
              <a:rPr lang="pt-BR" sz="2100" b="1" dirty="0"/>
              <a:t>	1. Recebe o erro</a:t>
            </a:r>
            <a:r>
              <a:rPr lang="pt-BR" sz="2100" dirty="0"/>
              <a:t> da fase de </a:t>
            </a:r>
            <a:r>
              <a:rPr lang="pt-BR" sz="2100" i="1" dirty="0" err="1"/>
              <a:t>forward</a:t>
            </a:r>
            <a:r>
              <a:rPr lang="pt-BR" sz="2100" i="1" dirty="0"/>
              <a:t> </a:t>
            </a:r>
            <a:r>
              <a:rPr lang="pt-BR" sz="2100" i="1" dirty="0" err="1"/>
              <a:t>propagation</a:t>
            </a:r>
            <a:r>
              <a:rPr lang="pt-BR" sz="2100" dirty="0"/>
              <a:t> (diferença entre saída real e prevista).</a:t>
            </a:r>
          </a:p>
          <a:p>
            <a:pPr marL="0" indent="0">
              <a:buNone/>
            </a:pPr>
            <a:r>
              <a:rPr lang="pt-BR" sz="2100" b="1" dirty="0"/>
              <a:t>	2. Calcula o gradiente</a:t>
            </a:r>
            <a:r>
              <a:rPr lang="pt-BR" sz="2100" dirty="0"/>
              <a:t> — quanto cada peso contribuiu para esse erro, usando o </a:t>
            </a:r>
            <a:r>
              <a:rPr lang="pt-BR" sz="2100" b="1" dirty="0"/>
              <a:t>método do gradiente descendente</a:t>
            </a:r>
            <a:r>
              <a:rPr lang="pt-BR" sz="2100" dirty="0"/>
              <a:t> e a </a:t>
            </a:r>
            <a:r>
              <a:rPr lang="pt-BR" sz="2100" b="1" dirty="0"/>
              <a:t>regra da cadeia</a:t>
            </a:r>
            <a:r>
              <a:rPr lang="pt-BR" sz="2100" dirty="0"/>
              <a:t> (derivadas).</a:t>
            </a:r>
          </a:p>
          <a:p>
            <a:pPr marL="0" indent="0">
              <a:buNone/>
            </a:pPr>
            <a:r>
              <a:rPr lang="pt-BR" sz="2100" b="1" dirty="0"/>
              <a:t>	3. Atualiza os pesos e o bias</a:t>
            </a:r>
            <a:r>
              <a:rPr lang="pt-BR" sz="2100" dirty="0"/>
              <a:t> para reduzir o erro, movendo-os na direção oposta ao gradiente;</a:t>
            </a:r>
          </a:p>
          <a:p>
            <a:pPr marL="0" indent="0">
              <a:buNone/>
            </a:pPr>
            <a:r>
              <a:rPr lang="pt-BR" sz="2100" dirty="0"/>
              <a:t>	4. O processo se repete por várias iterações até que o erro seja mínimo.</a:t>
            </a:r>
          </a:p>
          <a:p>
            <a:pPr marL="0" indent="0">
              <a:buNone/>
            </a:pPr>
            <a:r>
              <a:rPr lang="pt-BR" sz="2100" dirty="0"/>
              <a:t>	Em resumo:</a:t>
            </a:r>
            <a:br>
              <a:rPr lang="pt-BR" sz="2100" dirty="0"/>
            </a:br>
            <a:r>
              <a:rPr lang="pt-BR" sz="2100" dirty="0"/>
              <a:t>	- </a:t>
            </a:r>
            <a:r>
              <a:rPr lang="pt-BR" sz="2100" b="1" dirty="0" err="1"/>
              <a:t>Forward</a:t>
            </a:r>
            <a:r>
              <a:rPr lang="pt-BR" sz="2100" b="1" dirty="0"/>
              <a:t> </a:t>
            </a:r>
            <a:r>
              <a:rPr lang="pt-BR" sz="2100" b="1" dirty="0" err="1"/>
              <a:t>propagation</a:t>
            </a:r>
            <a:r>
              <a:rPr lang="pt-BR" sz="2100" dirty="0"/>
              <a:t> calcula a previsão,</a:t>
            </a:r>
            <a:br>
              <a:rPr lang="pt-BR" sz="2100" dirty="0"/>
            </a:br>
            <a:r>
              <a:rPr lang="pt-BR" sz="2100" dirty="0"/>
              <a:t>	- </a:t>
            </a:r>
            <a:r>
              <a:rPr lang="pt-BR" sz="2100" b="1" dirty="0" err="1"/>
              <a:t>Backpropagation</a:t>
            </a:r>
            <a:r>
              <a:rPr lang="pt-BR" sz="2100" dirty="0"/>
              <a:t> corrige os pesos para melhorar a próxima previsão.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pt-BR" altLang="pt-BR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02822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FD3D5B-DAAB-4F36-B87F-C58AF55BE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320" y="2726635"/>
            <a:ext cx="8596668" cy="702365"/>
          </a:xfrm>
        </p:spPr>
        <p:txBody>
          <a:bodyPr/>
          <a:lstStyle/>
          <a:p>
            <a:pPr algn="ctr"/>
            <a:r>
              <a:rPr lang="pt-BR" b="1" dirty="0">
                <a:solidFill>
                  <a:schemeClr val="tx1"/>
                </a:solidFill>
              </a:rPr>
              <a:t>Implementação do Zero (</a:t>
            </a:r>
            <a:r>
              <a:rPr lang="pt-BR" b="1" dirty="0" err="1">
                <a:solidFill>
                  <a:schemeClr val="tx1"/>
                </a:solidFill>
              </a:rPr>
              <a:t>NumPy</a:t>
            </a:r>
            <a:r>
              <a:rPr lang="pt-BR" b="1" dirty="0">
                <a:solidFill>
                  <a:schemeClr val="tx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714522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AC81D4-DC7F-41C3-852A-CB2130B55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solidFill>
                  <a:schemeClr val="tx1"/>
                </a:solidFill>
              </a:rPr>
              <a:t>Boas Práticas e Cuidados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C7EB3742-56A7-4C6F-9E7B-3975530239D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4" y="1449697"/>
            <a:ext cx="9054495" cy="3277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/>
              <a:tabLst/>
            </a:pPr>
            <a:r>
              <a:rPr kumimoji="0" lang="pt-BR" altLang="pt-BR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Sempre </a:t>
            </a:r>
            <a:r>
              <a:rPr kumimoji="0" lang="pt-BR" altLang="pt-BR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normalizar</a:t>
            </a:r>
            <a:r>
              <a:rPr kumimoji="0" lang="pt-BR" altLang="pt-BR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os dados de entrada.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/>
              <a:tabLst/>
            </a:pPr>
            <a:endParaRPr kumimoji="0" lang="pt-BR" altLang="pt-BR" sz="2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Usar </a:t>
            </a:r>
            <a:r>
              <a:rPr kumimoji="0" lang="pt-BR" altLang="pt-BR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validação cruzada</a:t>
            </a:r>
            <a:r>
              <a:rPr kumimoji="0" lang="pt-BR" altLang="pt-BR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para evitar </a:t>
            </a:r>
            <a:r>
              <a:rPr kumimoji="0" lang="pt-BR" altLang="pt-BR" sz="23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overfitting</a:t>
            </a:r>
            <a:r>
              <a:rPr kumimoji="0" lang="pt-BR" altLang="pt-BR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pt-BR" altLang="pt-BR" sz="2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Monitorar </a:t>
            </a:r>
            <a:r>
              <a:rPr kumimoji="0" lang="pt-BR" altLang="pt-BR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função de perda</a:t>
            </a:r>
            <a:r>
              <a:rPr kumimoji="0" lang="pt-BR" altLang="pt-BR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 </a:t>
            </a:r>
            <a:r>
              <a:rPr kumimoji="0" lang="pt-BR" altLang="pt-BR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acurácia</a:t>
            </a:r>
            <a:r>
              <a:rPr kumimoji="0" lang="pt-BR" altLang="pt-BR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pt-BR" altLang="pt-BR" sz="2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Evitar redes grandes demais sem necessidade.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pt-BR" altLang="pt-BR" sz="2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5. Entender o problema antes de escolher a arquitetura.</a:t>
            </a:r>
          </a:p>
        </p:txBody>
      </p:sp>
    </p:spTree>
    <p:extLst>
      <p:ext uri="{BB962C8B-B14F-4D97-AF65-F5344CB8AC3E}">
        <p14:creationId xmlns:p14="http://schemas.microsoft.com/office/powerpoint/2010/main" val="773360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DE5E77-DB71-4838-9941-DF5AE557D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75861"/>
          </a:xfrm>
        </p:spPr>
        <p:txBody>
          <a:bodyPr/>
          <a:lstStyle/>
          <a:p>
            <a:r>
              <a:rPr lang="pt-BR" b="1" dirty="0">
                <a:solidFill>
                  <a:schemeClr val="tx1"/>
                </a:solidFill>
              </a:rPr>
              <a:t>Conclusões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916C906-E5B5-40A4-8BBA-A1B5C06BF1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378227"/>
            <a:ext cx="9010005" cy="46631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300" b="1" dirty="0"/>
              <a:t>Principais aprendizados:</a:t>
            </a:r>
            <a:endParaRPr lang="pt-BR" sz="2300" dirty="0"/>
          </a:p>
          <a:p>
            <a:pPr marL="0" indent="0">
              <a:buNone/>
            </a:pPr>
            <a:endParaRPr lang="pt-BR" sz="2300" dirty="0"/>
          </a:p>
          <a:p>
            <a:pPr marL="0" indent="0">
              <a:buNone/>
            </a:pPr>
            <a:r>
              <a:rPr lang="pt-BR" sz="2300" dirty="0"/>
              <a:t>Redes neurais simulam o comportamento do cérebro.</a:t>
            </a:r>
          </a:p>
          <a:p>
            <a:pPr marL="0" indent="0">
              <a:buNone/>
            </a:pPr>
            <a:endParaRPr lang="pt-BR" sz="2300" dirty="0"/>
          </a:p>
          <a:p>
            <a:pPr marL="0" indent="0">
              <a:buNone/>
            </a:pPr>
            <a:r>
              <a:rPr lang="pt-BR" sz="2300" dirty="0"/>
              <a:t>Aprendem ajustando pesos com base no erro.</a:t>
            </a:r>
          </a:p>
          <a:p>
            <a:pPr marL="0" indent="0">
              <a:buNone/>
            </a:pPr>
            <a:endParaRPr lang="pt-BR" sz="2300" dirty="0"/>
          </a:p>
          <a:p>
            <a:pPr marL="0" indent="0">
              <a:buNone/>
            </a:pPr>
            <a:r>
              <a:rPr lang="pt-BR" sz="2300" dirty="0"/>
              <a:t>Podem ser implementadas do zero ou com frameworks poderosos.</a:t>
            </a:r>
          </a:p>
          <a:p>
            <a:pPr marL="0" indent="0">
              <a:buNone/>
            </a:pPr>
            <a:endParaRPr lang="pt-BR" sz="2300" dirty="0"/>
          </a:p>
          <a:p>
            <a:pPr marL="0" indent="0">
              <a:buNone/>
            </a:pPr>
            <a:r>
              <a:rPr lang="pt-BR" sz="2300" dirty="0"/>
              <a:t>A experimentação é essencial para o domínio prático.</a:t>
            </a:r>
          </a:p>
          <a:p>
            <a:pPr marL="0" indent="0">
              <a:buNone/>
            </a:pPr>
            <a:endParaRPr lang="pt-BR" sz="2300" b="1" dirty="0"/>
          </a:p>
          <a:p>
            <a:endParaRPr lang="pt-BR" sz="2300" dirty="0"/>
          </a:p>
        </p:txBody>
      </p:sp>
    </p:spTree>
    <p:extLst>
      <p:ext uri="{BB962C8B-B14F-4D97-AF65-F5344CB8AC3E}">
        <p14:creationId xmlns:p14="http://schemas.microsoft.com/office/powerpoint/2010/main" val="1813691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916C906-E5B5-40A4-8BBA-A1B5C06BF1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832757"/>
            <a:ext cx="8596668" cy="520860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2400" b="1" dirty="0"/>
              <a:t>Ferramentas úteis</a:t>
            </a:r>
          </a:p>
          <a:p>
            <a:pPr marL="0" indent="0">
              <a:buNone/>
            </a:pPr>
            <a:endParaRPr lang="pt-BR" sz="2400" dirty="0"/>
          </a:p>
          <a:p>
            <a:pPr marL="0" indent="0">
              <a:buNone/>
            </a:pPr>
            <a:r>
              <a:rPr lang="pt-BR" sz="2400" dirty="0" err="1"/>
              <a:t>TensorFlow</a:t>
            </a:r>
            <a:r>
              <a:rPr lang="pt-BR" sz="2400" dirty="0"/>
              <a:t> Playground</a:t>
            </a:r>
          </a:p>
          <a:p>
            <a:pPr marL="0" indent="0">
              <a:buNone/>
            </a:pPr>
            <a:endParaRPr lang="pt-BR" sz="2400" dirty="0"/>
          </a:p>
          <a:p>
            <a:pPr marL="0" indent="0">
              <a:buNone/>
            </a:pPr>
            <a:r>
              <a:rPr lang="pt-BR" sz="2400" dirty="0" err="1"/>
              <a:t>Keras</a:t>
            </a:r>
            <a:r>
              <a:rPr lang="pt-BR" sz="2400" dirty="0"/>
              <a:t> </a:t>
            </a:r>
            <a:r>
              <a:rPr lang="pt-BR" sz="2400" dirty="0" err="1"/>
              <a:t>Documentation</a:t>
            </a:r>
            <a:endParaRPr lang="pt-BR" sz="2400" dirty="0"/>
          </a:p>
          <a:p>
            <a:pPr marL="0" indent="0">
              <a:buNone/>
            </a:pPr>
            <a:endParaRPr lang="pt-BR" sz="2400" dirty="0"/>
          </a:p>
          <a:p>
            <a:pPr marL="0" indent="0">
              <a:buNone/>
            </a:pPr>
            <a:r>
              <a:rPr lang="pt-BR" sz="2400" dirty="0"/>
              <a:t>Google </a:t>
            </a:r>
            <a:r>
              <a:rPr lang="pt-BR" sz="2400" dirty="0" err="1"/>
              <a:t>Colab</a:t>
            </a:r>
            <a:endParaRPr lang="pt-BR" sz="2400" dirty="0"/>
          </a:p>
          <a:p>
            <a:pPr algn="just"/>
            <a:endParaRPr lang="pt-BR" sz="2400" dirty="0"/>
          </a:p>
          <a:p>
            <a:pPr algn="just"/>
            <a:endParaRPr lang="pt-BR" sz="2400" dirty="0"/>
          </a:p>
          <a:p>
            <a:pPr algn="just"/>
            <a:endParaRPr lang="pt-BR" sz="2400" dirty="0"/>
          </a:p>
          <a:p>
            <a:pPr algn="just"/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46575271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394</TotalTime>
  <Words>306</Words>
  <Application>Microsoft Office PowerPoint</Application>
  <PresentationFormat>Widescreen</PresentationFormat>
  <Paragraphs>97</Paragraphs>
  <Slides>21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5" baseType="lpstr">
      <vt:lpstr>Arial</vt:lpstr>
      <vt:lpstr>Trebuchet MS</vt:lpstr>
      <vt:lpstr>Wingdings 3</vt:lpstr>
      <vt:lpstr>Facetado</vt:lpstr>
      <vt:lpstr>Introdução às Redes Neurais com Python</vt:lpstr>
      <vt:lpstr>Objetivo</vt:lpstr>
      <vt:lpstr>O que são Redes Neurais? </vt:lpstr>
      <vt:lpstr>Apresentação do PowerPoint</vt:lpstr>
      <vt:lpstr>Linha do Tempo</vt:lpstr>
      <vt:lpstr>Perceptron</vt:lpstr>
      <vt:lpstr>Apresentação do PowerPoint</vt:lpstr>
      <vt:lpstr>Estrutura de uma Rede Neural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Processo de Aprendizado</vt:lpstr>
      <vt:lpstr>Apresentação do PowerPoint</vt:lpstr>
      <vt:lpstr>Apresentação do PowerPoint</vt:lpstr>
      <vt:lpstr>Implementação do Zero (NumPy)</vt:lpstr>
      <vt:lpstr>Boas Práticas e Cuidados</vt:lpstr>
      <vt:lpstr>Conclusões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Métodos de busca para resolução de problemas: busca cega, busca heurística e busca competitiva</dc:title>
  <dc:creator>Acer</dc:creator>
  <cp:lastModifiedBy>Acer</cp:lastModifiedBy>
  <cp:revision>57</cp:revision>
  <dcterms:created xsi:type="dcterms:W3CDTF">2025-09-19T20:36:36Z</dcterms:created>
  <dcterms:modified xsi:type="dcterms:W3CDTF">2025-11-08T14:25:27Z</dcterms:modified>
</cp:coreProperties>
</file>
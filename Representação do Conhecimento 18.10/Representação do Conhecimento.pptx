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66" r:id="rId13"/>
    <p:sldId id="277" r:id="rId14"/>
    <p:sldId id="267" r:id="rId15"/>
    <p:sldId id="268" r:id="rId16"/>
    <p:sldId id="278" r:id="rId17"/>
    <p:sldId id="269" r:id="rId18"/>
    <p:sldId id="270" r:id="rId19"/>
    <p:sldId id="279" r:id="rId20"/>
    <p:sldId id="271" r:id="rId21"/>
    <p:sldId id="272" r:id="rId22"/>
    <p:sldId id="280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1" autoAdjust="0"/>
    <p:restoredTop sz="94660"/>
  </p:normalViewPr>
  <p:slideViewPr>
    <p:cSldViewPr snapToGrid="0">
      <p:cViewPr varScale="1">
        <p:scale>
          <a:sx n="70" d="100"/>
          <a:sy n="70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5CBCA-8D81-4F46-A5F2-BAC3C456E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97" y="1787527"/>
            <a:ext cx="9024729" cy="1641473"/>
          </a:xfrm>
        </p:spPr>
        <p:txBody>
          <a:bodyPr/>
          <a:lstStyle/>
          <a:p>
            <a:r>
              <a:rPr lang="pt-BR" sz="4800" b="1" dirty="0">
                <a:solidFill>
                  <a:schemeClr val="tx1"/>
                </a:solidFill>
              </a:rPr>
              <a:t>Representação do Conhecimento em Inteligência Artificial</a:t>
            </a:r>
            <a:endParaRPr lang="pt-BR" sz="4500" b="1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71ED1-D747-49FF-8455-B1C296395FCE}"/>
              </a:ext>
            </a:extLst>
          </p:cNvPr>
          <p:cNvSpPr txBox="1"/>
          <p:nvPr/>
        </p:nvSpPr>
        <p:spPr>
          <a:xfrm>
            <a:off x="4386468" y="5777948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latin typeface="+mj-lt"/>
                <a:ea typeface="+mj-ea"/>
                <a:cs typeface="+mj-cs"/>
              </a:rPr>
              <a:t>Prof. Breno Silveira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A42CF2-3978-4581-8D5C-6B7806DC3409}"/>
              </a:ext>
            </a:extLst>
          </p:cNvPr>
          <p:cNvSpPr txBox="1"/>
          <p:nvPr/>
        </p:nvSpPr>
        <p:spPr>
          <a:xfrm>
            <a:off x="980661" y="4427886"/>
            <a:ext cx="83992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Como os sistemas inteligentes armazenam, entendem e usam o conhecimento.</a:t>
            </a:r>
          </a:p>
        </p:txBody>
      </p:sp>
    </p:spTree>
    <p:extLst>
      <p:ext uri="{BB962C8B-B14F-4D97-AF65-F5344CB8AC3E}">
        <p14:creationId xmlns:p14="http://schemas.microsoft.com/office/powerpoint/2010/main" val="4209623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BDB9B-A0B7-4EAD-A2FF-0DBD96FD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365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Conceito Básico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875C9B-0BDD-4C72-A9C5-938B88AA4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63014" cy="39447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b="1" dirty="0"/>
              <a:t>Representação do Conhecimento</a:t>
            </a:r>
            <a:r>
              <a:rPr lang="pt-BR" sz="3000" dirty="0"/>
              <a:t> é a forma como a </a:t>
            </a:r>
            <a:r>
              <a:rPr lang="pt-BR" sz="3000" b="1" dirty="0"/>
              <a:t>IA estrutura informações</a:t>
            </a:r>
            <a:r>
              <a:rPr lang="pt-BR" sz="3000" dirty="0"/>
              <a:t> sobre o mundo para: </a:t>
            </a:r>
          </a:p>
          <a:p>
            <a:pPr marL="0" indent="0">
              <a:buNone/>
            </a:pPr>
            <a:endParaRPr lang="pt-BR" sz="2000" dirty="0"/>
          </a:p>
          <a:p>
            <a:r>
              <a:rPr lang="pt-BR" sz="3000" dirty="0"/>
              <a:t>Entender fatos</a:t>
            </a:r>
          </a:p>
          <a:p>
            <a:r>
              <a:rPr lang="pt-BR" sz="3000" dirty="0"/>
              <a:t>Raciocinar</a:t>
            </a:r>
          </a:p>
          <a:p>
            <a:r>
              <a:rPr lang="pt-BR" sz="3000" dirty="0"/>
              <a:t>Tomar decisões</a:t>
            </a:r>
          </a:p>
          <a:p>
            <a:r>
              <a:rPr lang="pt-BR" sz="3000" dirty="0"/>
              <a:t>Aprender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3000" dirty="0"/>
              <a:t>É “como ensinar o computador a pensar sobre o que ele sabe”.</a:t>
            </a:r>
          </a:p>
        </p:txBody>
      </p:sp>
    </p:spTree>
    <p:extLst>
      <p:ext uri="{BB962C8B-B14F-4D97-AF65-F5344CB8AC3E}">
        <p14:creationId xmlns:p14="http://schemas.microsoft.com/office/powerpoint/2010/main" val="24288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3CC57BA-FAA4-43D9-ABF6-5E35B3E0A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3839" y="1432226"/>
            <a:ext cx="774282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“Todo gato é um mamífero.”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“Se algo é mamífero, então é um animal.”</a:t>
            </a:r>
          </a:p>
        </p:txBody>
      </p:sp>
    </p:spTree>
    <p:extLst>
      <p:ext uri="{BB962C8B-B14F-4D97-AF65-F5344CB8AC3E}">
        <p14:creationId xmlns:p14="http://schemas.microsoft.com/office/powerpoint/2010/main" val="354676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70C71-7540-4035-BF10-756BA545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Exercício 1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A91835-48BD-48E5-ACAD-B2C7D27B6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040" y="1699568"/>
            <a:ext cx="874496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Explique, com suas palavras, o que significa “representar conhecimento” em um computador.</a:t>
            </a:r>
            <a:b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Dê um exemplo de como representar “um aluno matriculado em uma disciplina”.</a:t>
            </a:r>
          </a:p>
        </p:txBody>
      </p:sp>
    </p:spTree>
    <p:extLst>
      <p:ext uri="{BB962C8B-B14F-4D97-AF65-F5344CB8AC3E}">
        <p14:creationId xmlns:p14="http://schemas.microsoft.com/office/powerpoint/2010/main" val="127006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3C20C-D6F6-4B8D-A46D-A65A9B69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862" y="287083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Tipos de Representação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542D1E-5AC8-4B4D-B8BB-083C55E42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62" y="1144057"/>
            <a:ext cx="8596668" cy="38807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/>
              <a:t>Principais formas de representação do conhecimento:</a:t>
            </a:r>
          </a:p>
          <a:p>
            <a:pPr marL="0" indent="0">
              <a:buNone/>
            </a:pP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1. Lógica simbólica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2. Redes semânticas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3. Frames (quadros)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4. Ontologias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5. Regras de produção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6. Redes neurais (representação conexionista)</a:t>
            </a:r>
            <a:endParaRPr lang="pt-BR" sz="3000" dirty="0"/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9906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51906-7506-47B1-B496-5A63D50B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291548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1. Lógica Simbólica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F89B12-B40E-4A1E-A289-68FBF669F3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3" y="1091328"/>
            <a:ext cx="871792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 o conhecimento com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proposições e regras lógicas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Gato(Tom)</a:t>
            </a: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Mamífero(x) → Animal(x)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que o sistema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deduza novos fatos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3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Usada em: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raciocínio automático, sistemas especialistas.</a:t>
            </a:r>
          </a:p>
        </p:txBody>
      </p:sp>
    </p:spTree>
    <p:extLst>
      <p:ext uri="{BB962C8B-B14F-4D97-AF65-F5344CB8AC3E}">
        <p14:creationId xmlns:p14="http://schemas.microsoft.com/office/powerpoint/2010/main" val="2866346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07BA2-5EE1-4870-8030-4A5FB9DDA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Represente logicamente as seguintes frases:</a:t>
            </a:r>
          </a:p>
          <a:p>
            <a:pPr marL="0" indent="0">
              <a:buNone/>
            </a:pPr>
            <a:b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a) “Todo humano é mortal.”</a:t>
            </a:r>
            <a:b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b) “Sócrates é humano.”</a:t>
            </a:r>
          </a:p>
          <a:p>
            <a:pPr marL="0" indent="0">
              <a:buNone/>
            </a:pPr>
            <a:b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→ Conclua: “Sócrates é mortal.”</a:t>
            </a:r>
            <a:endParaRPr lang="pt-BR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EEB545-5C64-4C58-A224-106B90764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93001"/>
            <a:ext cx="22140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 2</a:t>
            </a:r>
          </a:p>
        </p:txBody>
      </p:sp>
    </p:spTree>
    <p:extLst>
      <p:ext uri="{BB962C8B-B14F-4D97-AF65-F5344CB8AC3E}">
        <p14:creationId xmlns:p14="http://schemas.microsoft.com/office/powerpoint/2010/main" val="13579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A80D3-7EB3-445A-BCC7-F04CF2A3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0969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2. Redes Semânticas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8E28D-BDC9-4AF5-952E-8FEE5ED89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5458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dirty="0"/>
              <a:t>Representam conhecimento como </a:t>
            </a:r>
            <a:r>
              <a:rPr lang="pt-BR" sz="3000" b="1" dirty="0"/>
              <a:t>nós (conceitos)</a:t>
            </a:r>
            <a:r>
              <a:rPr lang="pt-BR" sz="3000" dirty="0"/>
              <a:t> e </a:t>
            </a:r>
            <a:r>
              <a:rPr lang="pt-BR" sz="3000" b="1" dirty="0"/>
              <a:t>ligações (relações)</a:t>
            </a:r>
            <a:r>
              <a:rPr lang="pt-BR" sz="3000" dirty="0"/>
              <a:t>.</a:t>
            </a:r>
          </a:p>
          <a:p>
            <a:pPr marL="0" indent="0">
              <a:buNone/>
            </a:pPr>
            <a:r>
              <a:rPr lang="pt-BR" sz="3000" b="1" dirty="0"/>
              <a:t>Exemplo:</a:t>
            </a:r>
            <a:br>
              <a:rPr lang="pt-BR" sz="3000" dirty="0"/>
            </a:br>
            <a:endParaRPr lang="pt-BR" sz="3000" dirty="0"/>
          </a:p>
          <a:p>
            <a:pPr marL="0" indent="0">
              <a:buNone/>
            </a:pPr>
            <a:r>
              <a:rPr lang="pt-BR" sz="3000" dirty="0"/>
              <a:t>“Gato” → “é um” → “Animal”</a:t>
            </a:r>
            <a:br>
              <a:rPr lang="pt-BR" sz="3000" dirty="0"/>
            </a:br>
            <a:endParaRPr lang="pt-BR" sz="3000" dirty="0"/>
          </a:p>
          <a:p>
            <a:pPr marL="0" indent="0">
              <a:buNone/>
            </a:pPr>
            <a:r>
              <a:rPr lang="pt-BR" sz="3000" dirty="0"/>
              <a:t>“Animal” → “tem” → “Coração”</a:t>
            </a:r>
          </a:p>
          <a:p>
            <a:pPr marL="0" indent="0">
              <a:buNone/>
            </a:pPr>
            <a:endParaRPr lang="pt-BR" sz="2000" b="1" dirty="0"/>
          </a:p>
          <a:p>
            <a:pPr marL="0" indent="0">
              <a:buNone/>
            </a:pPr>
            <a:r>
              <a:rPr lang="pt-BR" sz="3000" b="1" dirty="0"/>
              <a:t>Usadas em:</a:t>
            </a:r>
            <a:r>
              <a:rPr lang="pt-BR" sz="3000" dirty="0"/>
              <a:t> IA simbólica, processamento de linguagem natural.</a:t>
            </a:r>
          </a:p>
          <a:p>
            <a:pPr marL="0" indent="0">
              <a:buNone/>
            </a:pP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36317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6E934-3A96-49D7-9395-3AC77D7D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Exercício 3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66975B-C6A3-46FA-A56E-67FE34222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40808"/>
            <a:ext cx="88774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uma pequena rede semântica para representar: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“Um estudante estuda em uma escola e lê livros.”</a:t>
            </a:r>
          </a:p>
        </p:txBody>
      </p:sp>
    </p:spTree>
    <p:extLst>
      <p:ext uri="{BB962C8B-B14F-4D97-AF65-F5344CB8AC3E}">
        <p14:creationId xmlns:p14="http://schemas.microsoft.com/office/powerpoint/2010/main" val="278716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0C65A-3451-471F-99D7-887004B3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43339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Exercício 04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055C58-3D0A-4210-B45B-40F9D7300D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152939"/>
            <a:ext cx="859666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em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represente a seguinte situação: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“Um cachorro pertence a uma pessoa, e essa pessoa mora em uma casa.”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uma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 semântica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representar os conceitos e as relações entre eles.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Seu programa deve: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 os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(conceitos):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Cachorro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Pessoa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 as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relações (arestas)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eles: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Cachorro →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pertence_a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Pessoa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Pessoa →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mora_em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Casa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Exibir a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 graficamente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mostrando os rótulos das relações.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7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61CC9-783C-40C7-9B59-3CC4F9EA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44557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3. Frames (Quadros)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DED5C-6C0F-4799-BD28-71CEE6716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17552"/>
            <a:ext cx="8596668" cy="38807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Estruturas semelhantes a </a:t>
            </a:r>
            <a:r>
              <a:rPr lang="pt-BR" sz="2800" b="1" dirty="0"/>
              <a:t>registros ou objetos</a:t>
            </a:r>
            <a:r>
              <a:rPr lang="pt-BR" sz="2800" dirty="0"/>
              <a:t>, que armazenam </a:t>
            </a:r>
            <a:r>
              <a:rPr lang="pt-BR" sz="2800" b="1" dirty="0"/>
              <a:t>atributos e valores</a:t>
            </a:r>
            <a:r>
              <a:rPr lang="pt-BR" sz="2800" dirty="0"/>
              <a:t>.</a:t>
            </a:r>
            <a:endParaRPr lang="pt-BR" sz="2800" b="1" dirty="0"/>
          </a:p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r>
              <a:rPr lang="pt-BR" sz="2800" b="1" dirty="0"/>
              <a:t>Exemplo:</a:t>
            </a:r>
          </a:p>
          <a:p>
            <a:pPr marL="0" indent="0" algn="just">
              <a:buNone/>
            </a:pPr>
            <a:br>
              <a:rPr lang="pt-BR" sz="2800" dirty="0"/>
            </a:br>
            <a:r>
              <a:rPr lang="pt-BR" sz="2800" dirty="0"/>
              <a:t>Frame </a:t>
            </a:r>
            <a:r>
              <a:rPr lang="pt-BR" sz="2800" i="1" dirty="0"/>
              <a:t>Carro</a:t>
            </a:r>
            <a:endParaRPr lang="pt-BR" sz="2800" dirty="0"/>
          </a:p>
          <a:p>
            <a:pPr marL="0" indent="0" algn="just">
              <a:buNone/>
            </a:pPr>
            <a:r>
              <a:rPr lang="pt-BR" sz="2800" dirty="0"/>
              <a:t>Marca: Toyota</a:t>
            </a:r>
          </a:p>
          <a:p>
            <a:pPr marL="0" indent="0" algn="just">
              <a:buNone/>
            </a:pPr>
            <a:r>
              <a:rPr lang="pt-BR" sz="2800" dirty="0"/>
              <a:t>Tipo: Sedan</a:t>
            </a:r>
          </a:p>
          <a:p>
            <a:pPr marL="0" indent="0" algn="just">
              <a:buNone/>
            </a:pPr>
            <a:r>
              <a:rPr lang="pt-BR" sz="2800" dirty="0"/>
              <a:t>Cor: Vermelho</a:t>
            </a:r>
          </a:p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r>
              <a:rPr lang="pt-BR" sz="2800" b="1" dirty="0"/>
              <a:t>Usadas em:</a:t>
            </a:r>
            <a:r>
              <a:rPr lang="pt-BR" sz="2800" dirty="0"/>
              <a:t> representação de objetos e situações.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583549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635690-F2A2-4ECE-A206-17E026BC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Monte um frame para representar um </a:t>
            </a:r>
            <a:r>
              <a:rPr lang="pt-BR" altLang="pt-BR" sz="3000" b="1" dirty="0">
                <a:solidFill>
                  <a:schemeClr val="tx1"/>
                </a:solidFill>
                <a:latin typeface="Arial" panose="020B0604020202020204" pitchFamily="34" charset="0"/>
              </a:rPr>
              <a:t>Animal de estimação</a:t>
            </a: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 com pelo menos 3 atributos.</a:t>
            </a:r>
            <a:endParaRPr lang="pt-BR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0EC572-21C9-4275-BB2A-55CF2C9B4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93000"/>
            <a:ext cx="22140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 4</a:t>
            </a:r>
          </a:p>
        </p:txBody>
      </p:sp>
    </p:spTree>
    <p:extLst>
      <p:ext uri="{BB962C8B-B14F-4D97-AF65-F5344CB8AC3E}">
        <p14:creationId xmlns:p14="http://schemas.microsoft.com/office/powerpoint/2010/main" val="344345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D9A41-B974-4E7D-97AE-37FDEC8D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43339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Exercício 05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2936BC-3F25-460E-831C-D603F0A29E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560" y="1290366"/>
            <a:ext cx="829438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Represente, usando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 conhecimento sobre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cachorro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pertence a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 pessoa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 entidade deve ser descrita por um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conjunto de atributos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(slots) e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programa deve: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os conceitos principais: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Cachorro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Pessoa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atributos (slots)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cada frame, por exemplo: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Cachorro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nome, raça, dono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Pessoa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nome, idade, endereço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Representar as relações entre os frames (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 dono do cachorro é uma pessoa).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Exibir as informações completas de cada frame.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076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7D453-EE3C-4A64-ADA9-AA757FC7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4. Ontologias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473988-6D3B-4329-9A48-8C3F5545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195536" cy="38807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/>
              <a:t>Conjuntos </a:t>
            </a:r>
            <a:r>
              <a:rPr lang="pt-BR" sz="3000" b="1" dirty="0"/>
              <a:t>organizados de conceitos e relações</a:t>
            </a:r>
            <a:r>
              <a:rPr lang="pt-BR" sz="3000" dirty="0"/>
              <a:t> dentro de um </a:t>
            </a:r>
            <a:r>
              <a:rPr lang="pt-BR" sz="3000" b="1" dirty="0"/>
              <a:t>domínio específico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r>
              <a:rPr lang="pt-BR" sz="3000" dirty="0"/>
              <a:t>Permitem </a:t>
            </a:r>
            <a:r>
              <a:rPr lang="pt-BR" sz="3000" b="1" dirty="0"/>
              <a:t>compartilhar e reutilizar conhecimento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r>
              <a:rPr lang="pt-BR" sz="3000" b="1" dirty="0"/>
              <a:t>Exemplo:</a:t>
            </a:r>
            <a:r>
              <a:rPr lang="pt-BR" sz="3000" dirty="0"/>
              <a:t> Ontologia médica</a:t>
            </a:r>
          </a:p>
          <a:p>
            <a:pPr marL="0" indent="0" algn="just">
              <a:buNone/>
            </a:pPr>
            <a:endParaRPr lang="pt-BR" sz="1500" dirty="0"/>
          </a:p>
          <a:p>
            <a:pPr marL="0" indent="0" algn="just">
              <a:buNone/>
            </a:pPr>
            <a:r>
              <a:rPr lang="pt-BR" sz="3000" dirty="0"/>
              <a:t>Conceitos: </a:t>
            </a:r>
            <a:r>
              <a:rPr lang="pt-BR" sz="3000" i="1" dirty="0"/>
              <a:t>Paciente</a:t>
            </a:r>
            <a:r>
              <a:rPr lang="pt-BR" sz="3000" dirty="0"/>
              <a:t>, </a:t>
            </a:r>
            <a:r>
              <a:rPr lang="pt-BR" sz="3000" i="1" dirty="0"/>
              <a:t>Doença</a:t>
            </a:r>
            <a:r>
              <a:rPr lang="pt-BR" sz="3000" dirty="0"/>
              <a:t>, </a:t>
            </a:r>
            <a:r>
              <a:rPr lang="pt-BR" sz="3000" i="1" dirty="0"/>
              <a:t>Sintoma</a:t>
            </a:r>
            <a:endParaRPr lang="pt-BR" sz="3000" dirty="0"/>
          </a:p>
          <a:p>
            <a:pPr marL="0" indent="0" algn="just">
              <a:buNone/>
            </a:pPr>
            <a:endParaRPr lang="pt-BR" sz="1500" dirty="0"/>
          </a:p>
          <a:p>
            <a:pPr marL="0" indent="0" algn="just">
              <a:buNone/>
            </a:pPr>
            <a:r>
              <a:rPr lang="pt-BR" sz="3000" dirty="0"/>
              <a:t>Relações: “Paciente tem Sintoma”, “Doença causa Sintoma”</a:t>
            </a:r>
          </a:p>
          <a:p>
            <a:pPr marL="0" indent="0">
              <a:buNone/>
            </a:pPr>
            <a:endParaRPr lang="pt-BR" sz="3000" b="1" dirty="0"/>
          </a:p>
          <a:p>
            <a:pPr marL="0" indent="0">
              <a:buNone/>
            </a:pPr>
            <a:r>
              <a:rPr lang="pt-BR" sz="3000" b="1" dirty="0"/>
              <a:t>Usadas em:</a:t>
            </a:r>
            <a:r>
              <a:rPr lang="pt-BR" sz="3000" dirty="0"/>
              <a:t> Web Semântica, sistemas de recomendação, agentes inteligentes.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30648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25202-C047-4495-A228-C9D53A75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Exercício 5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051586-6701-465F-BAA9-D9B1CD63BE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43175"/>
            <a:ext cx="890398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Defina uma ontologia simples com 3 conceitos do domínio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educacional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Professor, Disciplina, Aluno) e relacione-os.</a:t>
            </a:r>
          </a:p>
        </p:txBody>
      </p:sp>
    </p:spTree>
    <p:extLst>
      <p:ext uri="{BB962C8B-B14F-4D97-AF65-F5344CB8AC3E}">
        <p14:creationId xmlns:p14="http://schemas.microsoft.com/office/powerpoint/2010/main" val="1504430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E1C27-0158-4DFF-8CF9-37CDFA57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2122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Exercício 06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6222C7-5B4B-46B6-AFDB-A43324DAB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Crie uma ontologia simples para representar um </a:t>
            </a:r>
            <a:r>
              <a:rPr lang="pt-BR" sz="2200" b="1" dirty="0"/>
              <a:t>ecossistema de animais</a:t>
            </a:r>
            <a:r>
              <a:rPr lang="pt-BR" sz="2200" dirty="0"/>
              <a:t> usando Python.</a:t>
            </a:r>
          </a:p>
          <a:p>
            <a:pPr marL="0" indent="0">
              <a:buNone/>
            </a:pPr>
            <a:br>
              <a:rPr lang="pt-BR" sz="2200" dirty="0"/>
            </a:br>
            <a:r>
              <a:rPr lang="pt-BR" sz="2200" dirty="0"/>
              <a:t>O sistema deve representar </a:t>
            </a:r>
            <a:r>
              <a:rPr lang="pt-BR" sz="2200" b="1" dirty="0"/>
              <a:t>conceitos</a:t>
            </a:r>
            <a:r>
              <a:rPr lang="pt-BR" sz="2200" dirty="0"/>
              <a:t> (classes), </a:t>
            </a:r>
            <a:r>
              <a:rPr lang="pt-BR" sz="2200" b="1" dirty="0"/>
              <a:t>relações</a:t>
            </a:r>
            <a:r>
              <a:rPr lang="pt-BR" sz="2200" dirty="0"/>
              <a:t> (como “é um” e “come”) e </a:t>
            </a:r>
            <a:r>
              <a:rPr lang="pt-BR" sz="2200" b="1" dirty="0"/>
              <a:t>propriedades</a:t>
            </a:r>
            <a:r>
              <a:rPr lang="pt-BR" sz="2200" dirty="0"/>
              <a:t> (como habitat ou dieta).</a:t>
            </a:r>
          </a:p>
          <a:p>
            <a:pPr marL="0" indent="0">
              <a:buNone/>
            </a:pPr>
            <a:br>
              <a:rPr lang="pt-BR" sz="2200" dirty="0"/>
            </a:br>
            <a:r>
              <a:rPr lang="pt-BR" sz="2200" dirty="0"/>
              <a:t>Depois, use essa ontologia para </a:t>
            </a:r>
            <a:r>
              <a:rPr lang="pt-BR" sz="2200" b="1" dirty="0"/>
              <a:t>responder perguntas simples</a:t>
            </a:r>
            <a:r>
              <a:rPr lang="pt-BR" sz="2200" dirty="0"/>
              <a:t>, como: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200" dirty="0"/>
              <a:t>Quais animais são carnívoros?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200" dirty="0"/>
              <a:t>Quais animais vivem na floresta?</a:t>
            </a:r>
          </a:p>
          <a:p>
            <a:pPr algn="r"/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045678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8A4AC-1F07-4FFA-8D65-3D6BCE8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5. Regras de Produção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07EEE-807C-4662-B20D-06F2179DF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dirty="0"/>
              <a:t>Conhecimento expresso como </a:t>
            </a:r>
            <a:r>
              <a:rPr lang="pt-BR" sz="3000" b="1" dirty="0"/>
              <a:t>regras do tipo “Se... então...”</a:t>
            </a:r>
            <a:endParaRPr lang="pt-BR" sz="3000" dirty="0"/>
          </a:p>
          <a:p>
            <a:pPr marL="0" indent="0">
              <a:buNone/>
            </a:pPr>
            <a:endParaRPr lang="pt-BR" sz="1500" b="1" dirty="0"/>
          </a:p>
          <a:p>
            <a:pPr marL="0" indent="0">
              <a:buNone/>
            </a:pPr>
            <a:r>
              <a:rPr lang="pt-BR" sz="3000" b="1" dirty="0"/>
              <a:t>Exemplo:</a:t>
            </a:r>
            <a:endParaRPr lang="pt-BR" sz="3000" dirty="0"/>
          </a:p>
          <a:p>
            <a:pPr marL="0" indent="0">
              <a:buNone/>
            </a:pPr>
            <a:endParaRPr lang="pt-BR" sz="1500" dirty="0"/>
          </a:p>
          <a:p>
            <a:pPr marL="0" indent="0">
              <a:buNone/>
            </a:pPr>
            <a:r>
              <a:rPr lang="pt-BR" sz="3000" dirty="0"/>
              <a:t>Se temperatura &gt; 38°C → então “Pessoa está com febre”.</a:t>
            </a:r>
          </a:p>
          <a:p>
            <a:pPr marL="0" indent="0">
              <a:buNone/>
            </a:pPr>
            <a:endParaRPr lang="pt-BR" sz="3000" b="1" dirty="0"/>
          </a:p>
          <a:p>
            <a:pPr marL="0" indent="0">
              <a:buNone/>
            </a:pPr>
            <a:r>
              <a:rPr lang="pt-BR" sz="3000" b="1" dirty="0"/>
              <a:t>Usadas em:</a:t>
            </a:r>
            <a:r>
              <a:rPr lang="pt-BR" sz="3000" dirty="0"/>
              <a:t> sistemas especialistas, diagnósticos automáticos.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788872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2A571-94DD-4A85-9CAF-9073A776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Exercício 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014EE5-665E-42CE-8374-4BA18A002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000" dirty="0"/>
              <a:t>Crie duas regras de produção para um sistema especialista que avalia </a:t>
            </a:r>
            <a:r>
              <a:rPr lang="pt-BR" sz="3000" b="1" dirty="0"/>
              <a:t>nível de bateria</a:t>
            </a:r>
            <a:r>
              <a:rPr lang="pt-BR" sz="3000" dirty="0"/>
              <a:t> de um celular.</a:t>
            </a:r>
          </a:p>
        </p:txBody>
      </p:sp>
    </p:spTree>
    <p:extLst>
      <p:ext uri="{BB962C8B-B14F-4D97-AF65-F5344CB8AC3E}">
        <p14:creationId xmlns:p14="http://schemas.microsoft.com/office/powerpoint/2010/main" val="357007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29E41-AD5C-4016-A55C-B14F648E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365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Exemplo 07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34D7EA-74A6-48E9-B0F6-8D00CD6EB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0745"/>
            <a:ext cx="8596668" cy="3880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200" dirty="0"/>
              <a:t>Implemente um </a:t>
            </a:r>
            <a:r>
              <a:rPr lang="pt-BR" sz="2200" b="1" dirty="0"/>
              <a:t>sistema especialista simples em Python</a:t>
            </a:r>
            <a:r>
              <a:rPr lang="pt-BR" sz="2200" dirty="0"/>
              <a:t> que use </a:t>
            </a:r>
            <a:r>
              <a:rPr lang="pt-BR" sz="2200" b="1" dirty="0"/>
              <a:t>regras de produção</a:t>
            </a:r>
            <a:r>
              <a:rPr lang="pt-BR" sz="2200" dirty="0"/>
              <a:t> para diagnosticar o </a:t>
            </a:r>
            <a:r>
              <a:rPr lang="pt-BR" sz="2200" b="1" dirty="0"/>
              <a:t>clima</a:t>
            </a:r>
            <a:r>
              <a:rPr lang="pt-BR" sz="2200" dirty="0"/>
              <a:t> com base em algumas condições.</a:t>
            </a:r>
          </a:p>
          <a:p>
            <a:pPr marL="0" indent="0" algn="just">
              <a:buNone/>
            </a:pPr>
            <a:r>
              <a:rPr lang="pt-BR" sz="2200" dirty="0"/>
              <a:t>O sistema deve:</a:t>
            </a:r>
          </a:p>
          <a:p>
            <a:pPr marL="0" indent="0" algn="just">
              <a:buNone/>
            </a:pPr>
            <a:r>
              <a:rPr lang="pt-BR" sz="2200" dirty="0"/>
              <a:t>Perguntar ao usuário sobre o </a:t>
            </a:r>
            <a:r>
              <a:rPr lang="pt-BR" sz="2200" b="1" dirty="0"/>
              <a:t>clima atual</a:t>
            </a:r>
            <a:r>
              <a:rPr lang="pt-BR" sz="2200" dirty="0"/>
              <a:t> (sol, chuva, vento, temperatura etc.)</a:t>
            </a:r>
          </a:p>
          <a:p>
            <a:pPr marL="0" indent="0" algn="just">
              <a:buNone/>
            </a:pPr>
            <a:r>
              <a:rPr lang="pt-BR" sz="2200" dirty="0"/>
              <a:t>Usar </a:t>
            </a:r>
            <a:r>
              <a:rPr lang="pt-BR" sz="2200" b="1" dirty="0"/>
              <a:t>regras do tipo “SE ... ENTÃO ...”</a:t>
            </a:r>
            <a:r>
              <a:rPr lang="pt-BR" sz="2200" dirty="0"/>
              <a:t> para inferir conclusões.</a:t>
            </a:r>
          </a:p>
          <a:p>
            <a:pPr marL="0" indent="0" algn="just">
              <a:buNone/>
            </a:pPr>
            <a:r>
              <a:rPr lang="pt-BR" sz="2200" dirty="0"/>
              <a:t>Exibir uma </a:t>
            </a:r>
            <a:r>
              <a:rPr lang="pt-BR" sz="2200" b="1" dirty="0"/>
              <a:t>recomendação</a:t>
            </a:r>
            <a:r>
              <a:rPr lang="pt-BR" sz="2200" dirty="0"/>
              <a:t> (por exemplo: “leve um guarda-chuva” ou “use protetor solar”).</a:t>
            </a:r>
          </a:p>
          <a:p>
            <a:pPr algn="just"/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17107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D4D7B-3012-4ED1-A05D-09C3762A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6. Redes Neurais (Representação Conexionista)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D1C321-B406-462A-9E4F-E39CC193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/>
              <a:t>O conhecimento é representado de forma </a:t>
            </a:r>
            <a:r>
              <a:rPr lang="pt-BR" sz="3000" b="1" dirty="0"/>
              <a:t>numérica e distribuída</a:t>
            </a:r>
            <a:r>
              <a:rPr lang="pt-BR" sz="3000" dirty="0"/>
              <a:t> em </a:t>
            </a:r>
            <a:r>
              <a:rPr lang="pt-BR" sz="3000" b="1" dirty="0"/>
              <a:t>pesos sinápticos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r>
              <a:rPr lang="pt-BR" sz="3000" dirty="0"/>
              <a:t>Não é simbólica, mas </a:t>
            </a:r>
            <a:r>
              <a:rPr lang="pt-BR" sz="3000" b="1" dirty="0"/>
              <a:t>estatística</a:t>
            </a:r>
            <a:r>
              <a:rPr lang="pt-BR" sz="3000" dirty="0"/>
              <a:t> — o sistema </a:t>
            </a:r>
            <a:r>
              <a:rPr lang="pt-BR" sz="3000" b="1" dirty="0"/>
              <a:t>aprende padrões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3000" b="1" dirty="0"/>
          </a:p>
          <a:p>
            <a:pPr marL="0" indent="0" algn="just">
              <a:buNone/>
            </a:pPr>
            <a:r>
              <a:rPr lang="pt-BR" sz="3000" b="1" dirty="0"/>
              <a:t>Usadas em:</a:t>
            </a:r>
            <a:r>
              <a:rPr lang="pt-BR" sz="3000" dirty="0"/>
              <a:t> reconhecimento de imagem, voz, tradução, etc.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732496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2FCE0-2E59-4032-A6EE-942F6081E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Pesquise um exemplo de uso de redes neurais em seu cotidiano (</a:t>
            </a:r>
            <a:r>
              <a:rPr lang="pt-BR" altLang="pt-BR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ex</a:t>
            </a: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: reconhecimento facial, filtros de foto) e descreva o que o sistema “aprende”.</a:t>
            </a:r>
            <a:endParaRPr lang="pt-BR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51B3D1-4F89-4700-8C37-7721A7A45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93001"/>
            <a:ext cx="22140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 7</a:t>
            </a:r>
          </a:p>
        </p:txBody>
      </p:sp>
    </p:spTree>
    <p:extLst>
      <p:ext uri="{BB962C8B-B14F-4D97-AF65-F5344CB8AC3E}">
        <p14:creationId xmlns:p14="http://schemas.microsoft.com/office/powerpoint/2010/main" val="351788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4592A-5809-4CEA-B3FD-AAB525A2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9357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Exemplo 08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BCE401-4098-4159-B612-5AA103E2F1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74837"/>
            <a:ext cx="880786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 uma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 neural artificial simples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perceptron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para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reconhecer padrões lógicos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rede deverá aprender a resolver o problema lógico do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Saída = 1 apenas quando as duas entradas forem 1.</a:t>
            </a:r>
          </a:p>
        </p:txBody>
      </p:sp>
    </p:spTree>
    <p:extLst>
      <p:ext uri="{BB962C8B-B14F-4D97-AF65-F5344CB8AC3E}">
        <p14:creationId xmlns:p14="http://schemas.microsoft.com/office/powerpoint/2010/main" val="3791889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26135-CBA4-4E46-9EE6-F9450460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Revisão Final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ACD7C-6FC7-4864-A359-FE348C9F3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305341"/>
            <a:ext cx="844016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Representar conhecimento é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 informações de forma compreensível para máquinas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Existem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formas simbólicas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(lógicas, redes, regras) e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formas conexionistas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(neurais).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tipo ideal depende do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 e domínio de aplicação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539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6E10E-64D0-4591-85BC-7B3C283E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Atividade de Fixação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1B2E8F-A371-40F0-9F3F-270786D86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830" y="1413521"/>
            <a:ext cx="859666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Escolha um domínio (</a:t>
            </a:r>
            <a:r>
              <a:rPr kumimoji="0" lang="pt-BR" altLang="pt-B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animais, trânsito, escola, saúde) 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Crie uma regra lógica;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Uma rede semântica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 frame</a:t>
            </a: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 devem representar o mesmo 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15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43CF0-F29D-4EF6-B474-918AC552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Referências e Leitura Complementar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98AE61-5BAD-495D-B4B8-B23CDB32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3000" dirty="0"/>
              <a:t>Russell, S.; </a:t>
            </a:r>
            <a:r>
              <a:rPr lang="pt-BR" sz="3000" dirty="0" err="1"/>
              <a:t>Norvig</a:t>
            </a:r>
            <a:r>
              <a:rPr lang="pt-BR" sz="3000" dirty="0"/>
              <a:t>, P. </a:t>
            </a:r>
            <a:r>
              <a:rPr lang="pt-BR" sz="3000" i="1" dirty="0"/>
              <a:t>Inteligência Artificial: Uma Abordagem Moderna</a:t>
            </a:r>
            <a:r>
              <a:rPr lang="pt-BR" sz="3000" dirty="0"/>
              <a:t>. Pearson.</a:t>
            </a:r>
          </a:p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r>
              <a:rPr lang="pt-BR" sz="3000" dirty="0" err="1"/>
              <a:t>Nilsson</a:t>
            </a:r>
            <a:r>
              <a:rPr lang="pt-BR" sz="3000" dirty="0"/>
              <a:t>, N. </a:t>
            </a:r>
            <a:r>
              <a:rPr lang="pt-BR" sz="3000" i="1" dirty="0" err="1"/>
              <a:t>Principles</a:t>
            </a:r>
            <a:r>
              <a:rPr lang="pt-BR" sz="3000" i="1" dirty="0"/>
              <a:t> </a:t>
            </a:r>
            <a:r>
              <a:rPr lang="pt-BR" sz="3000" i="1" dirty="0" err="1"/>
              <a:t>of</a:t>
            </a:r>
            <a:r>
              <a:rPr lang="pt-BR" sz="3000" i="1" dirty="0"/>
              <a:t> Artificial </a:t>
            </a:r>
            <a:r>
              <a:rPr lang="pt-BR" sz="3000" i="1" dirty="0" err="1"/>
              <a:t>Intelligence</a:t>
            </a:r>
            <a:r>
              <a:rPr lang="pt-BR" sz="3000" dirty="0"/>
              <a:t>. Morgan </a:t>
            </a:r>
            <a:r>
              <a:rPr lang="pt-BR" sz="3000" dirty="0" err="1"/>
              <a:t>Kaufmann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r>
              <a:rPr lang="pt-BR" sz="3000" dirty="0" err="1"/>
              <a:t>Sowa</a:t>
            </a:r>
            <a:r>
              <a:rPr lang="pt-BR" sz="3000" dirty="0"/>
              <a:t>, J. </a:t>
            </a:r>
            <a:r>
              <a:rPr lang="pt-BR" sz="3000" i="1" dirty="0" err="1"/>
              <a:t>Knowledge</a:t>
            </a:r>
            <a:r>
              <a:rPr lang="pt-BR" sz="3000" i="1" dirty="0"/>
              <a:t> </a:t>
            </a:r>
            <a:r>
              <a:rPr lang="pt-BR" sz="3000" i="1" dirty="0" err="1"/>
              <a:t>Representation</a:t>
            </a:r>
            <a:r>
              <a:rPr lang="pt-BR" sz="3000" i="1" dirty="0"/>
              <a:t>: </a:t>
            </a:r>
            <a:r>
              <a:rPr lang="pt-BR" sz="3000" i="1" dirty="0" err="1"/>
              <a:t>Logical</a:t>
            </a:r>
            <a:r>
              <a:rPr lang="pt-BR" sz="3000" i="1" dirty="0"/>
              <a:t>, </a:t>
            </a:r>
            <a:r>
              <a:rPr lang="pt-BR" sz="3000" i="1" dirty="0" err="1"/>
              <a:t>Philosophical</a:t>
            </a:r>
            <a:r>
              <a:rPr lang="pt-BR" sz="3000" i="1" dirty="0"/>
              <a:t>, </a:t>
            </a:r>
            <a:r>
              <a:rPr lang="pt-BR" sz="3000" i="1" dirty="0" err="1"/>
              <a:t>and</a:t>
            </a:r>
            <a:r>
              <a:rPr lang="pt-BR" sz="3000" i="1" dirty="0"/>
              <a:t> </a:t>
            </a:r>
            <a:r>
              <a:rPr lang="pt-BR" sz="3000" i="1" dirty="0" err="1"/>
              <a:t>Computational</a:t>
            </a:r>
            <a:r>
              <a:rPr lang="pt-BR" sz="3000" i="1" dirty="0"/>
              <a:t> </a:t>
            </a:r>
            <a:r>
              <a:rPr lang="pt-BR" sz="3000" i="1" dirty="0" err="1"/>
              <a:t>Foundations</a:t>
            </a:r>
            <a:r>
              <a:rPr lang="pt-BR" sz="3000" dirty="0"/>
              <a:t>.</a:t>
            </a:r>
          </a:p>
          <a:p>
            <a:pPr algn="just"/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4489114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399</TotalTime>
  <Words>908</Words>
  <Application>Microsoft Office PowerPoint</Application>
  <PresentationFormat>Widescreen</PresentationFormat>
  <Paragraphs>161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 Unicode MS</vt:lpstr>
      <vt:lpstr>Arial</vt:lpstr>
      <vt:lpstr>Trebuchet MS</vt:lpstr>
      <vt:lpstr>Wingdings 3</vt:lpstr>
      <vt:lpstr>Facetado</vt:lpstr>
      <vt:lpstr>Representação do Conhecimento em Inteligência Artificial</vt:lpstr>
      <vt:lpstr>Conceito Básico</vt:lpstr>
      <vt:lpstr>Apresentação do PowerPoint</vt:lpstr>
      <vt:lpstr>Exercício 1 </vt:lpstr>
      <vt:lpstr>Tipos de Representação</vt:lpstr>
      <vt:lpstr>1. Lógica Simbólica</vt:lpstr>
      <vt:lpstr>Exercício 2</vt:lpstr>
      <vt:lpstr>2. Redes Semânticas</vt:lpstr>
      <vt:lpstr>Exercício 3 </vt:lpstr>
      <vt:lpstr>Exercício 04</vt:lpstr>
      <vt:lpstr>3. Frames (Quadros)</vt:lpstr>
      <vt:lpstr>Exercício 4</vt:lpstr>
      <vt:lpstr>Exercício 05</vt:lpstr>
      <vt:lpstr>4. Ontologias </vt:lpstr>
      <vt:lpstr>Exercício 5 </vt:lpstr>
      <vt:lpstr>Exercício 06</vt:lpstr>
      <vt:lpstr>5. Regras de Produção </vt:lpstr>
      <vt:lpstr>Exercício 6</vt:lpstr>
      <vt:lpstr>Exemplo 07</vt:lpstr>
      <vt:lpstr>6. Redes Neurais (Representação Conexionista)</vt:lpstr>
      <vt:lpstr>Exercício 7</vt:lpstr>
      <vt:lpstr>Exemplo 08</vt:lpstr>
      <vt:lpstr>Revisão Final</vt:lpstr>
      <vt:lpstr>Atividade de Fixação </vt:lpstr>
      <vt:lpstr>Referências e Leitura Complementar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busca para resolução de problemas: busca cega, busca heurística e busca competitiva</dc:title>
  <dc:creator>Acer</dc:creator>
  <cp:lastModifiedBy>Acer</cp:lastModifiedBy>
  <cp:revision>63</cp:revision>
  <dcterms:created xsi:type="dcterms:W3CDTF">2025-09-19T20:36:36Z</dcterms:created>
  <dcterms:modified xsi:type="dcterms:W3CDTF">2025-10-18T04:41:29Z</dcterms:modified>
</cp:coreProperties>
</file>